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embeddedFontLst>
    <p:embeddedFont>
      <p:font typeface="TT Interphases Bold" charset="1" panose="02000803060000020004"/>
      <p:regular r:id="rId29"/>
    </p:embeddedFont>
    <p:embeddedFont>
      <p:font typeface="Georgia Pro Condensed Light" charset="1" panose="02040306050405020303"/>
      <p:regular r:id="rId30"/>
    </p:embeddedFont>
    <p:embeddedFont>
      <p:font typeface="Georgia Pro Condensed Bold" charset="1" panose="02040806050405020203"/>
      <p:regular r:id="rId31"/>
    </p:embeddedFont>
    <p:embeddedFont>
      <p:font typeface="TT Interphases" charset="1" panose="02000503020000020004"/>
      <p:regular r:id="rId32"/>
    </p:embeddedFont>
    <p:embeddedFont>
      <p:font typeface="TT Interphases Bold Italics" charset="1" panose="02000803000000090004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20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086294" cy="1640807"/>
            <a:chOff x="0" y="0"/>
            <a:chExt cx="24115059" cy="2187743"/>
          </a:xfrm>
        </p:grpSpPr>
        <p:sp>
          <p:nvSpPr>
            <p:cNvPr name="AutoShape 3" id="3"/>
            <p:cNvSpPr/>
            <p:nvPr/>
          </p:nvSpPr>
          <p:spPr>
            <a:xfrm>
              <a:off x="501706" y="2181393"/>
              <a:ext cx="23380588" cy="0"/>
            </a:xfrm>
            <a:prstGeom prst="line">
              <a:avLst/>
            </a:prstGeom>
            <a:ln cap="flat" w="127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20957983" y="180709"/>
              <a:ext cx="3157076" cy="1462942"/>
            </a:xfrm>
            <a:custGeom>
              <a:avLst/>
              <a:gdLst/>
              <a:ahLst/>
              <a:cxnLst/>
              <a:rect r="r" b="b" t="t" l="l"/>
              <a:pathLst>
                <a:path h="1462942" w="3157076">
                  <a:moveTo>
                    <a:pt x="0" y="0"/>
                  </a:moveTo>
                  <a:lnTo>
                    <a:pt x="3157076" y="0"/>
                  </a:lnTo>
                  <a:lnTo>
                    <a:pt x="3157076" y="1462941"/>
                  </a:lnTo>
                  <a:lnTo>
                    <a:pt x="0" y="1462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713" r="0" b="-1713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10897800" y="1508620"/>
              <a:ext cx="2588400" cy="398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100"/>
                </a:lnSpc>
              </a:pPr>
              <a:r>
                <a:rPr lang="en-US" b="true" sz="2100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PIXCRAWLER</a:t>
              </a:r>
            </a:p>
          </p:txBody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28413" cy="1857011"/>
            </a:xfrm>
            <a:custGeom>
              <a:avLst/>
              <a:gdLst/>
              <a:ahLst/>
              <a:cxnLst/>
              <a:rect r="r" b="b" t="t" l="l"/>
              <a:pathLst>
                <a:path h="1857011" w="2228413">
                  <a:moveTo>
                    <a:pt x="0" y="0"/>
                  </a:moveTo>
                  <a:lnTo>
                    <a:pt x="2228413" y="0"/>
                  </a:lnTo>
                  <a:lnTo>
                    <a:pt x="2228413" y="1857011"/>
                  </a:lnTo>
                  <a:lnTo>
                    <a:pt x="0" y="18570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0187045" y="4798227"/>
            <a:ext cx="7221528" cy="2022948"/>
          </a:xfrm>
          <a:custGeom>
            <a:avLst/>
            <a:gdLst/>
            <a:ahLst/>
            <a:cxnLst/>
            <a:rect r="r" b="b" t="t" l="l"/>
            <a:pathLst>
              <a:path h="2022948" w="7221528">
                <a:moveTo>
                  <a:pt x="0" y="0"/>
                </a:moveTo>
                <a:lnTo>
                  <a:pt x="7221527" y="0"/>
                </a:lnTo>
                <a:lnTo>
                  <a:pt x="7221527" y="2022948"/>
                </a:lnTo>
                <a:lnTo>
                  <a:pt x="0" y="20229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3875" t="-153462" r="-22414" b="-233066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756236" y="2266204"/>
            <a:ext cx="8387764" cy="1951990"/>
            <a:chOff x="0" y="0"/>
            <a:chExt cx="11183685" cy="2602654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57150"/>
              <a:ext cx="11183685" cy="25455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370"/>
                </a:lnSpc>
              </a:pPr>
              <a:r>
                <a:rPr lang="en-US" sz="6700">
                  <a:solidFill>
                    <a:srgbClr val="000000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The AI Image Datasets Generator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4938496" y="2026146"/>
              <a:ext cx="2533650" cy="398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“</a:t>
              </a:r>
              <a:r>
                <a:rPr lang="en-US" b="true" sz="2100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PIXCRAWLER”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6167681"/>
            <a:ext cx="5815989" cy="2927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0"/>
              </a:lnSpc>
            </a:pPr>
            <a:r>
              <a:rPr lang="en-US" sz="3700" b="true">
                <a:solidFill>
                  <a:srgbClr val="000000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Presented by:</a:t>
            </a:r>
          </a:p>
          <a:p>
            <a:pPr algn="l">
              <a:lnSpc>
                <a:spcPts val="3190"/>
              </a:lnSpc>
            </a:pPr>
            <a:r>
              <a:rPr lang="en-US" sz="2900">
                <a:solidFill>
                  <a:srgbClr val="000000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Amr Mohamed </a:t>
            </a:r>
          </a:p>
          <a:p>
            <a:pPr algn="l">
              <a:lnSpc>
                <a:spcPts val="3190"/>
              </a:lnSpc>
            </a:pPr>
            <a:r>
              <a:rPr lang="en-US" sz="2900">
                <a:solidFill>
                  <a:srgbClr val="000000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Aya Ahmed</a:t>
            </a:r>
          </a:p>
          <a:p>
            <a:pPr algn="l">
              <a:lnSpc>
                <a:spcPts val="3190"/>
              </a:lnSpc>
            </a:pPr>
            <a:r>
              <a:rPr lang="en-US" sz="2900">
                <a:solidFill>
                  <a:srgbClr val="000000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Ganna Tarek</a:t>
            </a:r>
          </a:p>
          <a:p>
            <a:pPr algn="l">
              <a:lnSpc>
                <a:spcPts val="3190"/>
              </a:lnSpc>
            </a:pPr>
            <a:r>
              <a:rPr lang="en-US" sz="2900">
                <a:solidFill>
                  <a:srgbClr val="000000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Marwan Hatem</a:t>
            </a:r>
          </a:p>
          <a:p>
            <a:pPr algn="l">
              <a:lnSpc>
                <a:spcPts val="3190"/>
              </a:lnSpc>
            </a:pPr>
            <a:r>
              <a:rPr lang="en-US" sz="2900">
                <a:solidFill>
                  <a:srgbClr val="000000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Mohamed Hassan</a:t>
            </a:r>
          </a:p>
          <a:p>
            <a:pPr algn="l" marL="0" indent="0" lvl="0">
              <a:lnSpc>
                <a:spcPts val="3190"/>
              </a:lnSpc>
            </a:pPr>
            <a:r>
              <a:rPr lang="en-US" sz="2900">
                <a:solidFill>
                  <a:srgbClr val="000000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Osama Mohamed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666750" y="9625012"/>
            <a:ext cx="5753100" cy="0"/>
          </a:xfrm>
          <a:prstGeom prst="line">
            <a:avLst/>
          </a:prstGeom>
          <a:ln cap="flat" w="9525">
            <a:solidFill>
              <a:srgbClr val="0A3C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8040781" y="3399180"/>
            <a:ext cx="10045513" cy="4133973"/>
          </a:xfrm>
          <a:custGeom>
            <a:avLst/>
            <a:gdLst/>
            <a:ahLst/>
            <a:cxnLst/>
            <a:rect r="r" b="b" t="t" l="l"/>
            <a:pathLst>
              <a:path h="4133973" w="10045513">
                <a:moveTo>
                  <a:pt x="0" y="0"/>
                </a:moveTo>
                <a:lnTo>
                  <a:pt x="10045513" y="0"/>
                </a:lnTo>
                <a:lnTo>
                  <a:pt x="10045513" y="4133973"/>
                </a:lnTo>
                <a:lnTo>
                  <a:pt x="0" y="41339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70" t="-19524" r="-4285" b="-20826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15471" y="2176855"/>
            <a:ext cx="7525310" cy="103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</a:pPr>
            <a:r>
              <a:rPr lang="en-US" sz="7200">
                <a:solidFill>
                  <a:srgbClr val="0E5C6A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Probl</a:t>
            </a:r>
            <a:r>
              <a:rPr lang="en-US" sz="7200">
                <a:solidFill>
                  <a:srgbClr val="0E5C6A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em Statement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8117" y="3630370"/>
            <a:ext cx="7485063" cy="4702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8692" indent="-289346" lvl="1">
              <a:lnSpc>
                <a:spcPts val="3752"/>
              </a:lnSpc>
              <a:buFont typeface="Arial"/>
              <a:buChar char="•"/>
            </a:pPr>
            <a:r>
              <a:rPr lang="en-US" sz="2680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M</a:t>
            </a:r>
            <a:r>
              <a:rPr lang="en-US" sz="2680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anual scraping is slow, inconsistent, and error-prone</a:t>
            </a:r>
          </a:p>
          <a:p>
            <a:pPr algn="l" marL="578692" indent="-289346" lvl="1">
              <a:lnSpc>
                <a:spcPts val="3752"/>
              </a:lnSpc>
              <a:buFont typeface="Arial"/>
              <a:buChar char="•"/>
            </a:pPr>
            <a:r>
              <a:rPr lang="en-US" sz="2680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Public datasets are outdated, generic, or low quality</a:t>
            </a:r>
          </a:p>
          <a:p>
            <a:pPr algn="l" marL="578692" indent="-289346" lvl="1">
              <a:lnSpc>
                <a:spcPts val="3752"/>
              </a:lnSpc>
              <a:buFont typeface="Arial"/>
              <a:buChar char="•"/>
            </a:pPr>
            <a:r>
              <a:rPr lang="en-US" sz="2680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Corrupt or duplicate images reduce usability</a:t>
            </a:r>
          </a:p>
          <a:p>
            <a:pPr algn="l" marL="578692" indent="-289346" lvl="1">
              <a:lnSpc>
                <a:spcPts val="3752"/>
              </a:lnSpc>
              <a:buFont typeface="Arial"/>
              <a:buChar char="•"/>
            </a:pPr>
            <a:r>
              <a:rPr lang="en-US" sz="2680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Custom datasets are expensive and difficult to obtain</a:t>
            </a:r>
          </a:p>
          <a:p>
            <a:pPr algn="ctr">
              <a:lnSpc>
                <a:spcPts val="3752"/>
              </a:lnSpc>
            </a:pPr>
            <a:r>
              <a:rPr lang="en-US" sz="2680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b="true" sz="2680" i="true">
                <a:solidFill>
                  <a:srgbClr val="0A3C46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PixCrawler automates the entire pipeline to solve these issues.</a:t>
            </a:r>
          </a:p>
          <a:p>
            <a:pPr algn="l">
              <a:lnSpc>
                <a:spcPts val="3752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0" y="0"/>
            <a:ext cx="18086294" cy="1640807"/>
            <a:chOff x="0" y="0"/>
            <a:chExt cx="24115059" cy="2187743"/>
          </a:xfrm>
        </p:grpSpPr>
        <p:sp>
          <p:nvSpPr>
            <p:cNvPr name="AutoShape 7" id="7"/>
            <p:cNvSpPr/>
            <p:nvPr/>
          </p:nvSpPr>
          <p:spPr>
            <a:xfrm>
              <a:off x="501706" y="2181393"/>
              <a:ext cx="23380588" cy="0"/>
            </a:xfrm>
            <a:prstGeom prst="line">
              <a:avLst/>
            </a:prstGeom>
            <a:ln cap="flat" w="127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0957983" y="180709"/>
              <a:ext cx="3157076" cy="1462942"/>
            </a:xfrm>
            <a:custGeom>
              <a:avLst/>
              <a:gdLst/>
              <a:ahLst/>
              <a:cxnLst/>
              <a:rect r="r" b="b" t="t" l="l"/>
              <a:pathLst>
                <a:path h="1462942" w="3157076">
                  <a:moveTo>
                    <a:pt x="0" y="0"/>
                  </a:moveTo>
                  <a:lnTo>
                    <a:pt x="3157076" y="0"/>
                  </a:lnTo>
                  <a:lnTo>
                    <a:pt x="3157076" y="1462941"/>
                  </a:lnTo>
                  <a:lnTo>
                    <a:pt x="0" y="1462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13" r="0" b="-17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10897800" y="1508620"/>
              <a:ext cx="2588400" cy="398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100"/>
                </a:lnSpc>
              </a:pPr>
              <a:r>
                <a:rPr lang="en-US" b="true" sz="2100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PIXCRAWLER</a:t>
              </a:r>
            </a:p>
          </p:txBody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28413" cy="1857011"/>
            </a:xfrm>
            <a:custGeom>
              <a:avLst/>
              <a:gdLst/>
              <a:ahLst/>
              <a:cxnLst/>
              <a:rect r="r" b="b" t="t" l="l"/>
              <a:pathLst>
                <a:path h="1857011" w="2228413">
                  <a:moveTo>
                    <a:pt x="0" y="0"/>
                  </a:moveTo>
                  <a:lnTo>
                    <a:pt x="2228413" y="0"/>
                  </a:lnTo>
                  <a:lnTo>
                    <a:pt x="2228413" y="1857011"/>
                  </a:lnTo>
                  <a:lnTo>
                    <a:pt x="0" y="18570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666750" y="9625012"/>
            <a:ext cx="5753100" cy="0"/>
          </a:xfrm>
          <a:prstGeom prst="line">
            <a:avLst/>
          </a:prstGeom>
          <a:ln cap="flat" w="9525">
            <a:solidFill>
              <a:srgbClr val="0A3C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1047659" y="2729901"/>
            <a:ext cx="6518635" cy="5527368"/>
          </a:xfrm>
          <a:custGeom>
            <a:avLst/>
            <a:gdLst/>
            <a:ahLst/>
            <a:cxnLst/>
            <a:rect r="r" b="b" t="t" l="l"/>
            <a:pathLst>
              <a:path h="5527368" w="6518635">
                <a:moveTo>
                  <a:pt x="0" y="0"/>
                </a:moveTo>
                <a:lnTo>
                  <a:pt x="6518635" y="0"/>
                </a:lnTo>
                <a:lnTo>
                  <a:pt x="6518635" y="5527368"/>
                </a:lnTo>
                <a:lnTo>
                  <a:pt x="0" y="55273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817" t="0" r="-28364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15471" y="2176855"/>
            <a:ext cx="7525310" cy="103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</a:pPr>
            <a:r>
              <a:rPr lang="en-US" sz="7200">
                <a:solidFill>
                  <a:srgbClr val="0E5C6A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Executive Summary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15471" y="4151359"/>
            <a:ext cx="7657880" cy="4105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</a:pPr>
            <a:r>
              <a:rPr lang="en-US" sz="2599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PixCrawler revolutionizes automated image dataset creation. It is an end-to-end AI platform that streamlines the entire process—crawling, validating, deduplicating, organizing, and exporting high-quality, diverse images for AI training. By eliminating slow manual scraping, PixCrawler significantly reduces costs and time while enhancing the accuracy and reliability of machine learning and computer vision models.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0" y="0"/>
            <a:ext cx="18086294" cy="1640807"/>
            <a:chOff x="0" y="0"/>
            <a:chExt cx="24115059" cy="2187743"/>
          </a:xfrm>
        </p:grpSpPr>
        <p:sp>
          <p:nvSpPr>
            <p:cNvPr name="AutoShape 7" id="7"/>
            <p:cNvSpPr/>
            <p:nvPr/>
          </p:nvSpPr>
          <p:spPr>
            <a:xfrm>
              <a:off x="501706" y="2181393"/>
              <a:ext cx="23380588" cy="0"/>
            </a:xfrm>
            <a:prstGeom prst="line">
              <a:avLst/>
            </a:prstGeom>
            <a:ln cap="flat" w="127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0957983" y="180709"/>
              <a:ext cx="3157076" cy="1462942"/>
            </a:xfrm>
            <a:custGeom>
              <a:avLst/>
              <a:gdLst/>
              <a:ahLst/>
              <a:cxnLst/>
              <a:rect r="r" b="b" t="t" l="l"/>
              <a:pathLst>
                <a:path h="1462942" w="3157076">
                  <a:moveTo>
                    <a:pt x="0" y="0"/>
                  </a:moveTo>
                  <a:lnTo>
                    <a:pt x="3157076" y="0"/>
                  </a:lnTo>
                  <a:lnTo>
                    <a:pt x="3157076" y="1462941"/>
                  </a:lnTo>
                  <a:lnTo>
                    <a:pt x="0" y="1462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13" r="0" b="-17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10897800" y="1508620"/>
              <a:ext cx="2588400" cy="398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100"/>
                </a:lnSpc>
              </a:pPr>
              <a:r>
                <a:rPr lang="en-US" b="true" sz="2100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PIXCRAWLER</a:t>
              </a:r>
            </a:p>
          </p:txBody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28413" cy="1857011"/>
            </a:xfrm>
            <a:custGeom>
              <a:avLst/>
              <a:gdLst/>
              <a:ahLst/>
              <a:cxnLst/>
              <a:rect r="r" b="b" t="t" l="l"/>
              <a:pathLst>
                <a:path h="1857011" w="2228413">
                  <a:moveTo>
                    <a:pt x="0" y="0"/>
                  </a:moveTo>
                  <a:lnTo>
                    <a:pt x="2228413" y="0"/>
                  </a:lnTo>
                  <a:lnTo>
                    <a:pt x="2228413" y="1857011"/>
                  </a:lnTo>
                  <a:lnTo>
                    <a:pt x="0" y="18570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666750" y="9625012"/>
            <a:ext cx="5753100" cy="0"/>
          </a:xfrm>
          <a:prstGeom prst="line">
            <a:avLst/>
          </a:prstGeom>
          <a:ln cap="flat" w="9525">
            <a:solidFill>
              <a:srgbClr val="0A3C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5559102" y="2354140"/>
            <a:ext cx="12217511" cy="6886433"/>
          </a:xfrm>
          <a:custGeom>
            <a:avLst/>
            <a:gdLst/>
            <a:ahLst/>
            <a:cxnLst/>
            <a:rect r="r" b="b" t="t" l="l"/>
            <a:pathLst>
              <a:path h="6886433" w="12217511">
                <a:moveTo>
                  <a:pt x="0" y="0"/>
                </a:moveTo>
                <a:lnTo>
                  <a:pt x="12217512" y="0"/>
                </a:lnTo>
                <a:lnTo>
                  <a:pt x="12217512" y="6886433"/>
                </a:lnTo>
                <a:lnTo>
                  <a:pt x="0" y="68864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09" t="-929" r="-2534" b="-929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15471" y="2176855"/>
            <a:ext cx="4953560" cy="2034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</a:pPr>
            <a:r>
              <a:rPr lang="en-US" sz="7200">
                <a:solidFill>
                  <a:srgbClr val="0E5C6A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Mark</a:t>
            </a:r>
            <a:r>
              <a:rPr lang="en-US" sz="7200">
                <a:solidFill>
                  <a:srgbClr val="0E5C6A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et Opportunity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0"/>
            <a:ext cx="18086294" cy="1640807"/>
            <a:chOff x="0" y="0"/>
            <a:chExt cx="24115059" cy="2187743"/>
          </a:xfrm>
        </p:grpSpPr>
        <p:sp>
          <p:nvSpPr>
            <p:cNvPr name="AutoShape 6" id="6"/>
            <p:cNvSpPr/>
            <p:nvPr/>
          </p:nvSpPr>
          <p:spPr>
            <a:xfrm>
              <a:off x="501706" y="2181393"/>
              <a:ext cx="23380588" cy="0"/>
            </a:xfrm>
            <a:prstGeom prst="line">
              <a:avLst/>
            </a:prstGeom>
            <a:ln cap="flat" w="127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0957983" y="180709"/>
              <a:ext cx="3157076" cy="1462942"/>
            </a:xfrm>
            <a:custGeom>
              <a:avLst/>
              <a:gdLst/>
              <a:ahLst/>
              <a:cxnLst/>
              <a:rect r="r" b="b" t="t" l="l"/>
              <a:pathLst>
                <a:path h="1462942" w="3157076">
                  <a:moveTo>
                    <a:pt x="0" y="0"/>
                  </a:moveTo>
                  <a:lnTo>
                    <a:pt x="3157076" y="0"/>
                  </a:lnTo>
                  <a:lnTo>
                    <a:pt x="3157076" y="1462941"/>
                  </a:lnTo>
                  <a:lnTo>
                    <a:pt x="0" y="1462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13" r="0" b="-171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10897800" y="1508620"/>
              <a:ext cx="2588400" cy="398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100"/>
                </a:lnSpc>
              </a:pPr>
              <a:r>
                <a:rPr lang="en-US" b="true" sz="2100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PIXCRAWLER</a:t>
              </a:r>
            </a:p>
          </p:txBody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28413" cy="1857011"/>
            </a:xfrm>
            <a:custGeom>
              <a:avLst/>
              <a:gdLst/>
              <a:ahLst/>
              <a:cxnLst/>
              <a:rect r="r" b="b" t="t" l="l"/>
              <a:pathLst>
                <a:path h="1857011" w="2228413">
                  <a:moveTo>
                    <a:pt x="0" y="0"/>
                  </a:moveTo>
                  <a:lnTo>
                    <a:pt x="2228413" y="0"/>
                  </a:lnTo>
                  <a:lnTo>
                    <a:pt x="2228413" y="1857011"/>
                  </a:lnTo>
                  <a:lnTo>
                    <a:pt x="0" y="18570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666750" y="9625012"/>
            <a:ext cx="5753100" cy="0"/>
          </a:xfrm>
          <a:prstGeom prst="line">
            <a:avLst/>
          </a:prstGeom>
          <a:ln cap="flat" w="9525">
            <a:solidFill>
              <a:srgbClr val="0A3C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4496819" y="1818323"/>
            <a:ext cx="13303635" cy="7624410"/>
          </a:xfrm>
          <a:custGeom>
            <a:avLst/>
            <a:gdLst/>
            <a:ahLst/>
            <a:cxnLst/>
            <a:rect r="r" b="b" t="t" l="l"/>
            <a:pathLst>
              <a:path h="7624410" w="13303635">
                <a:moveTo>
                  <a:pt x="0" y="0"/>
                </a:moveTo>
                <a:lnTo>
                  <a:pt x="13303635" y="0"/>
                </a:lnTo>
                <a:lnTo>
                  <a:pt x="13303635" y="7624411"/>
                </a:lnTo>
                <a:lnTo>
                  <a:pt x="0" y="76244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4321" r="-1125" b="-22128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15471" y="2176855"/>
            <a:ext cx="3981348" cy="3034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</a:pPr>
            <a:r>
              <a:rPr lang="en-US" sz="7200">
                <a:solidFill>
                  <a:srgbClr val="0E5C6A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Business Model Overview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0"/>
            <a:ext cx="18086294" cy="1640807"/>
            <a:chOff x="0" y="0"/>
            <a:chExt cx="24115059" cy="2187743"/>
          </a:xfrm>
        </p:grpSpPr>
        <p:sp>
          <p:nvSpPr>
            <p:cNvPr name="AutoShape 6" id="6"/>
            <p:cNvSpPr/>
            <p:nvPr/>
          </p:nvSpPr>
          <p:spPr>
            <a:xfrm>
              <a:off x="501706" y="2181393"/>
              <a:ext cx="23380588" cy="0"/>
            </a:xfrm>
            <a:prstGeom prst="line">
              <a:avLst/>
            </a:prstGeom>
            <a:ln cap="flat" w="127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0957983" y="180709"/>
              <a:ext cx="3157076" cy="1462942"/>
            </a:xfrm>
            <a:custGeom>
              <a:avLst/>
              <a:gdLst/>
              <a:ahLst/>
              <a:cxnLst/>
              <a:rect r="r" b="b" t="t" l="l"/>
              <a:pathLst>
                <a:path h="1462942" w="3157076">
                  <a:moveTo>
                    <a:pt x="0" y="0"/>
                  </a:moveTo>
                  <a:lnTo>
                    <a:pt x="3157076" y="0"/>
                  </a:lnTo>
                  <a:lnTo>
                    <a:pt x="3157076" y="1462941"/>
                  </a:lnTo>
                  <a:lnTo>
                    <a:pt x="0" y="1462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13" r="0" b="-171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10897800" y="1508620"/>
              <a:ext cx="2588400" cy="398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100"/>
                </a:lnSpc>
              </a:pPr>
              <a:r>
                <a:rPr lang="en-US" b="true" sz="2100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PIXCRAWLER</a:t>
              </a:r>
            </a:p>
          </p:txBody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28413" cy="1857011"/>
            </a:xfrm>
            <a:custGeom>
              <a:avLst/>
              <a:gdLst/>
              <a:ahLst/>
              <a:cxnLst/>
              <a:rect r="r" b="b" t="t" l="l"/>
              <a:pathLst>
                <a:path h="1857011" w="2228413">
                  <a:moveTo>
                    <a:pt x="0" y="0"/>
                  </a:moveTo>
                  <a:lnTo>
                    <a:pt x="2228413" y="0"/>
                  </a:lnTo>
                  <a:lnTo>
                    <a:pt x="2228413" y="1857011"/>
                  </a:lnTo>
                  <a:lnTo>
                    <a:pt x="0" y="18570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666750" y="9625012"/>
            <a:ext cx="5753100" cy="0"/>
          </a:xfrm>
          <a:prstGeom prst="line">
            <a:avLst/>
          </a:prstGeom>
          <a:ln cap="flat" w="9525">
            <a:solidFill>
              <a:srgbClr val="0A3C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9369178" y="1640807"/>
            <a:ext cx="8918822" cy="8032952"/>
          </a:xfrm>
          <a:custGeom>
            <a:avLst/>
            <a:gdLst/>
            <a:ahLst/>
            <a:cxnLst/>
            <a:rect r="r" b="b" t="t" l="l"/>
            <a:pathLst>
              <a:path h="8032952" w="8918822">
                <a:moveTo>
                  <a:pt x="0" y="0"/>
                </a:moveTo>
                <a:lnTo>
                  <a:pt x="8918822" y="0"/>
                </a:lnTo>
                <a:lnTo>
                  <a:pt x="8918822" y="8032952"/>
                </a:lnTo>
                <a:lnTo>
                  <a:pt x="0" y="80329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14" t="-4668" r="-1009" b="-9162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15471" y="2176855"/>
            <a:ext cx="9400640" cy="103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</a:pPr>
            <a:r>
              <a:rPr lang="en-US" sz="7200">
                <a:solidFill>
                  <a:srgbClr val="0E5C6A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Competitive Advantages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6750" y="4411151"/>
            <a:ext cx="7485878" cy="318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Fully automated ML-grade pipeline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Multi-source crawling + AI keyword expansion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Validation &amp; deduplication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Checkpointing (rare feature)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Real-time monitoring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Modern, maintainable architecture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Faster, cheaper, flexible than</a:t>
            </a:r>
            <a:r>
              <a:rPr lang="en-US" sz="2600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alternatives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0" y="0"/>
            <a:ext cx="18086294" cy="1640807"/>
            <a:chOff x="0" y="0"/>
            <a:chExt cx="24115059" cy="2187743"/>
          </a:xfrm>
        </p:grpSpPr>
        <p:sp>
          <p:nvSpPr>
            <p:cNvPr name="AutoShape 7" id="7"/>
            <p:cNvSpPr/>
            <p:nvPr/>
          </p:nvSpPr>
          <p:spPr>
            <a:xfrm>
              <a:off x="501706" y="2181393"/>
              <a:ext cx="23380588" cy="0"/>
            </a:xfrm>
            <a:prstGeom prst="line">
              <a:avLst/>
            </a:prstGeom>
            <a:ln cap="flat" w="127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0957983" y="180709"/>
              <a:ext cx="3157076" cy="1462942"/>
            </a:xfrm>
            <a:custGeom>
              <a:avLst/>
              <a:gdLst/>
              <a:ahLst/>
              <a:cxnLst/>
              <a:rect r="r" b="b" t="t" l="l"/>
              <a:pathLst>
                <a:path h="1462942" w="3157076">
                  <a:moveTo>
                    <a:pt x="0" y="0"/>
                  </a:moveTo>
                  <a:lnTo>
                    <a:pt x="3157076" y="0"/>
                  </a:lnTo>
                  <a:lnTo>
                    <a:pt x="3157076" y="1462941"/>
                  </a:lnTo>
                  <a:lnTo>
                    <a:pt x="0" y="1462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13" r="0" b="-17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10897800" y="1508620"/>
              <a:ext cx="2588400" cy="398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100"/>
                </a:lnSpc>
              </a:pPr>
              <a:r>
                <a:rPr lang="en-US" b="true" sz="2100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PIXCRAWLER</a:t>
              </a:r>
            </a:p>
          </p:txBody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28413" cy="1857011"/>
            </a:xfrm>
            <a:custGeom>
              <a:avLst/>
              <a:gdLst/>
              <a:ahLst/>
              <a:cxnLst/>
              <a:rect r="r" b="b" t="t" l="l"/>
              <a:pathLst>
                <a:path h="1857011" w="2228413">
                  <a:moveTo>
                    <a:pt x="0" y="0"/>
                  </a:moveTo>
                  <a:lnTo>
                    <a:pt x="2228413" y="0"/>
                  </a:lnTo>
                  <a:lnTo>
                    <a:pt x="2228413" y="1857011"/>
                  </a:lnTo>
                  <a:lnTo>
                    <a:pt x="0" y="18570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666750" y="9625012"/>
            <a:ext cx="5753100" cy="0"/>
          </a:xfrm>
          <a:prstGeom prst="line">
            <a:avLst/>
          </a:prstGeom>
          <a:ln cap="flat" w="9525">
            <a:solidFill>
              <a:srgbClr val="0A3C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4910293" y="1640807"/>
            <a:ext cx="9758437" cy="7984205"/>
          </a:xfrm>
          <a:custGeom>
            <a:avLst/>
            <a:gdLst/>
            <a:ahLst/>
            <a:cxnLst/>
            <a:rect r="r" b="b" t="t" l="l"/>
            <a:pathLst>
              <a:path h="7984205" w="9758437">
                <a:moveTo>
                  <a:pt x="0" y="0"/>
                </a:moveTo>
                <a:lnTo>
                  <a:pt x="9758437" y="0"/>
                </a:lnTo>
                <a:lnTo>
                  <a:pt x="9758437" y="7984205"/>
                </a:lnTo>
                <a:lnTo>
                  <a:pt x="0" y="79842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124" t="-16187" r="-2167" b="-14946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15471" y="2176855"/>
            <a:ext cx="5467525" cy="2034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</a:pPr>
            <a:r>
              <a:rPr lang="en-US" sz="7200">
                <a:solidFill>
                  <a:srgbClr val="0E5C6A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Target Users &amp; Customers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0"/>
            <a:ext cx="18086294" cy="1640807"/>
            <a:chOff x="0" y="0"/>
            <a:chExt cx="24115059" cy="2187743"/>
          </a:xfrm>
        </p:grpSpPr>
        <p:sp>
          <p:nvSpPr>
            <p:cNvPr name="AutoShape 6" id="6"/>
            <p:cNvSpPr/>
            <p:nvPr/>
          </p:nvSpPr>
          <p:spPr>
            <a:xfrm>
              <a:off x="501706" y="2181393"/>
              <a:ext cx="23380588" cy="0"/>
            </a:xfrm>
            <a:prstGeom prst="line">
              <a:avLst/>
            </a:prstGeom>
            <a:ln cap="flat" w="127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0957983" y="180709"/>
              <a:ext cx="3157076" cy="1462942"/>
            </a:xfrm>
            <a:custGeom>
              <a:avLst/>
              <a:gdLst/>
              <a:ahLst/>
              <a:cxnLst/>
              <a:rect r="r" b="b" t="t" l="l"/>
              <a:pathLst>
                <a:path h="1462942" w="3157076">
                  <a:moveTo>
                    <a:pt x="0" y="0"/>
                  </a:moveTo>
                  <a:lnTo>
                    <a:pt x="3157076" y="0"/>
                  </a:lnTo>
                  <a:lnTo>
                    <a:pt x="3157076" y="1462941"/>
                  </a:lnTo>
                  <a:lnTo>
                    <a:pt x="0" y="1462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13" r="0" b="-171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10897800" y="1508620"/>
              <a:ext cx="2588400" cy="398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100"/>
                </a:lnSpc>
              </a:pPr>
              <a:r>
                <a:rPr lang="en-US" b="true" sz="2100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PIXCRAWLER</a:t>
              </a:r>
            </a:p>
          </p:txBody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28413" cy="1857011"/>
            </a:xfrm>
            <a:custGeom>
              <a:avLst/>
              <a:gdLst/>
              <a:ahLst/>
              <a:cxnLst/>
              <a:rect r="r" b="b" t="t" l="l"/>
              <a:pathLst>
                <a:path h="1857011" w="2228413">
                  <a:moveTo>
                    <a:pt x="0" y="0"/>
                  </a:moveTo>
                  <a:lnTo>
                    <a:pt x="2228413" y="0"/>
                  </a:lnTo>
                  <a:lnTo>
                    <a:pt x="2228413" y="1857011"/>
                  </a:lnTo>
                  <a:lnTo>
                    <a:pt x="0" y="18570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666750" y="9625012"/>
            <a:ext cx="5753100" cy="0"/>
          </a:xfrm>
          <a:prstGeom prst="line">
            <a:avLst/>
          </a:prstGeom>
          <a:ln cap="flat" w="9525">
            <a:solidFill>
              <a:srgbClr val="0A3C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515471" y="2176855"/>
            <a:ext cx="10802511" cy="103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</a:pPr>
            <a:r>
              <a:rPr lang="en-US" sz="7200">
                <a:solidFill>
                  <a:srgbClr val="0E5C6A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Product &amp; Servic</a:t>
            </a:r>
            <a:r>
              <a:rPr lang="en-US" sz="7200">
                <a:solidFill>
                  <a:srgbClr val="0E5C6A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e Description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66750" y="4106620"/>
            <a:ext cx="7506600" cy="4563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true">
                <a:solidFill>
                  <a:srgbClr val="0A3C46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</a:t>
            </a:r>
            <a:r>
              <a:rPr lang="en-US" sz="2599" b="true">
                <a:solidFill>
                  <a:srgbClr val="0A3C46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ixCrawler offers: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Automated dataset generation from keywords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AI-based keyword expansion for diversity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Multi-engine crawling (Google, Bing, Baidu, DuckDuckGo, ...etc.)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Image quality validation &amp; deduplication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Structured outputs (JSON/CSV/YAML/TXT)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Cloud export (ZIP hot</a:t>
            </a:r>
            <a:r>
              <a:rPr lang="en-US" sz="2599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/ 7z Cold)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Real-time job tracking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Credit-based model using Lemon Squeeze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7357379" y="4045051"/>
            <a:ext cx="11058034" cy="4993121"/>
          </a:xfrm>
          <a:custGeom>
            <a:avLst/>
            <a:gdLst/>
            <a:ahLst/>
            <a:cxnLst/>
            <a:rect r="r" b="b" t="t" l="l"/>
            <a:pathLst>
              <a:path h="4993121" w="11058034">
                <a:moveTo>
                  <a:pt x="0" y="0"/>
                </a:moveTo>
                <a:lnTo>
                  <a:pt x="11058035" y="0"/>
                </a:lnTo>
                <a:lnTo>
                  <a:pt x="11058035" y="4993121"/>
                </a:lnTo>
                <a:lnTo>
                  <a:pt x="0" y="49931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071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0" y="0"/>
            <a:ext cx="18086294" cy="1640807"/>
            <a:chOff x="0" y="0"/>
            <a:chExt cx="24115059" cy="2187743"/>
          </a:xfrm>
        </p:grpSpPr>
        <p:sp>
          <p:nvSpPr>
            <p:cNvPr name="AutoShape 7" id="7"/>
            <p:cNvSpPr/>
            <p:nvPr/>
          </p:nvSpPr>
          <p:spPr>
            <a:xfrm>
              <a:off x="501706" y="2181393"/>
              <a:ext cx="23380588" cy="0"/>
            </a:xfrm>
            <a:prstGeom prst="line">
              <a:avLst/>
            </a:prstGeom>
            <a:ln cap="flat" w="127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0957983" y="180709"/>
              <a:ext cx="3157076" cy="1462942"/>
            </a:xfrm>
            <a:custGeom>
              <a:avLst/>
              <a:gdLst/>
              <a:ahLst/>
              <a:cxnLst/>
              <a:rect r="r" b="b" t="t" l="l"/>
              <a:pathLst>
                <a:path h="1462942" w="3157076">
                  <a:moveTo>
                    <a:pt x="0" y="0"/>
                  </a:moveTo>
                  <a:lnTo>
                    <a:pt x="3157076" y="0"/>
                  </a:lnTo>
                  <a:lnTo>
                    <a:pt x="3157076" y="1462941"/>
                  </a:lnTo>
                  <a:lnTo>
                    <a:pt x="0" y="1462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13" r="0" b="-17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10897800" y="1508620"/>
              <a:ext cx="2588400" cy="398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100"/>
                </a:lnSpc>
              </a:pPr>
              <a:r>
                <a:rPr lang="en-US" b="true" sz="2100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PIXCRAWLER</a:t>
              </a:r>
            </a:p>
          </p:txBody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28413" cy="1857011"/>
            </a:xfrm>
            <a:custGeom>
              <a:avLst/>
              <a:gdLst/>
              <a:ahLst/>
              <a:cxnLst/>
              <a:rect r="r" b="b" t="t" l="l"/>
              <a:pathLst>
                <a:path h="1857011" w="2228413">
                  <a:moveTo>
                    <a:pt x="0" y="0"/>
                  </a:moveTo>
                  <a:lnTo>
                    <a:pt x="2228413" y="0"/>
                  </a:lnTo>
                  <a:lnTo>
                    <a:pt x="2228413" y="1857011"/>
                  </a:lnTo>
                  <a:lnTo>
                    <a:pt x="0" y="18570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666750" y="9625012"/>
            <a:ext cx="5753100" cy="0"/>
          </a:xfrm>
          <a:prstGeom prst="line">
            <a:avLst/>
          </a:prstGeom>
          <a:ln cap="flat" w="9525">
            <a:solidFill>
              <a:srgbClr val="0A3C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7070163" y="3211270"/>
            <a:ext cx="11016131" cy="5458009"/>
          </a:xfrm>
          <a:custGeom>
            <a:avLst/>
            <a:gdLst/>
            <a:ahLst/>
            <a:cxnLst/>
            <a:rect r="r" b="b" t="t" l="l"/>
            <a:pathLst>
              <a:path h="5458009" w="11016131">
                <a:moveTo>
                  <a:pt x="0" y="0"/>
                </a:moveTo>
                <a:lnTo>
                  <a:pt x="11016131" y="0"/>
                </a:lnTo>
                <a:lnTo>
                  <a:pt x="11016131" y="5458009"/>
                </a:lnTo>
                <a:lnTo>
                  <a:pt x="0" y="54580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999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15471" y="2176855"/>
            <a:ext cx="5044769" cy="103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</a:pPr>
            <a:r>
              <a:rPr lang="en-US" sz="7200">
                <a:solidFill>
                  <a:srgbClr val="0E5C6A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Key Featur</a:t>
            </a:r>
            <a:r>
              <a:rPr lang="en-US" sz="7200">
                <a:solidFill>
                  <a:srgbClr val="0E5C6A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15471" y="4106168"/>
            <a:ext cx="6185554" cy="4563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Multi-source crawling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Smart randomization and AI support keyword expansion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35 distributed Celery workers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Image validation (3 levels)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Perceptual hashing for duplicates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Checkpoint &amp; resume</a:t>
            </a:r>
            <a:r>
              <a:rPr lang="en-US" sz="2599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every 50 images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Real-time progress (SSE + Supabase)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Export: ZIP (hot), 7z (Cold)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0" y="0"/>
            <a:ext cx="18086294" cy="1640807"/>
            <a:chOff x="0" y="0"/>
            <a:chExt cx="24115059" cy="2187743"/>
          </a:xfrm>
        </p:grpSpPr>
        <p:sp>
          <p:nvSpPr>
            <p:cNvPr name="AutoShape 7" id="7"/>
            <p:cNvSpPr/>
            <p:nvPr/>
          </p:nvSpPr>
          <p:spPr>
            <a:xfrm>
              <a:off x="501706" y="2181393"/>
              <a:ext cx="23380588" cy="0"/>
            </a:xfrm>
            <a:prstGeom prst="line">
              <a:avLst/>
            </a:prstGeom>
            <a:ln cap="flat" w="127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0957983" y="180709"/>
              <a:ext cx="3157076" cy="1462942"/>
            </a:xfrm>
            <a:custGeom>
              <a:avLst/>
              <a:gdLst/>
              <a:ahLst/>
              <a:cxnLst/>
              <a:rect r="r" b="b" t="t" l="l"/>
              <a:pathLst>
                <a:path h="1462942" w="3157076">
                  <a:moveTo>
                    <a:pt x="0" y="0"/>
                  </a:moveTo>
                  <a:lnTo>
                    <a:pt x="3157076" y="0"/>
                  </a:lnTo>
                  <a:lnTo>
                    <a:pt x="3157076" y="1462941"/>
                  </a:lnTo>
                  <a:lnTo>
                    <a:pt x="0" y="1462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13" r="0" b="-17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10897800" y="1508620"/>
              <a:ext cx="2588400" cy="398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100"/>
                </a:lnSpc>
              </a:pPr>
              <a:r>
                <a:rPr lang="en-US" b="true" sz="2100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PIXCRAWLER</a:t>
              </a:r>
            </a:p>
          </p:txBody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28413" cy="1857011"/>
            </a:xfrm>
            <a:custGeom>
              <a:avLst/>
              <a:gdLst/>
              <a:ahLst/>
              <a:cxnLst/>
              <a:rect r="r" b="b" t="t" l="l"/>
              <a:pathLst>
                <a:path h="1857011" w="2228413">
                  <a:moveTo>
                    <a:pt x="0" y="0"/>
                  </a:moveTo>
                  <a:lnTo>
                    <a:pt x="2228413" y="0"/>
                  </a:lnTo>
                  <a:lnTo>
                    <a:pt x="2228413" y="1857011"/>
                  </a:lnTo>
                  <a:lnTo>
                    <a:pt x="0" y="18570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666750" y="9625012"/>
            <a:ext cx="5753100" cy="0"/>
          </a:xfrm>
          <a:prstGeom prst="line">
            <a:avLst/>
          </a:prstGeom>
          <a:ln cap="flat" w="9525">
            <a:solidFill>
              <a:srgbClr val="0A3C4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086294" cy="1640807"/>
            <a:chOff x="0" y="0"/>
            <a:chExt cx="24115059" cy="2187743"/>
          </a:xfrm>
        </p:grpSpPr>
        <p:sp>
          <p:nvSpPr>
            <p:cNvPr name="AutoShape 4" id="4"/>
            <p:cNvSpPr/>
            <p:nvPr/>
          </p:nvSpPr>
          <p:spPr>
            <a:xfrm>
              <a:off x="501706" y="2181393"/>
              <a:ext cx="23380588" cy="0"/>
            </a:xfrm>
            <a:prstGeom prst="line">
              <a:avLst/>
            </a:prstGeom>
            <a:ln cap="flat" w="127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0957983" y="180709"/>
              <a:ext cx="3157076" cy="1462942"/>
            </a:xfrm>
            <a:custGeom>
              <a:avLst/>
              <a:gdLst/>
              <a:ahLst/>
              <a:cxnLst/>
              <a:rect r="r" b="b" t="t" l="l"/>
              <a:pathLst>
                <a:path h="1462942" w="3157076">
                  <a:moveTo>
                    <a:pt x="0" y="0"/>
                  </a:moveTo>
                  <a:lnTo>
                    <a:pt x="3157076" y="0"/>
                  </a:lnTo>
                  <a:lnTo>
                    <a:pt x="3157076" y="1462941"/>
                  </a:lnTo>
                  <a:lnTo>
                    <a:pt x="0" y="1462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713" r="0" b="-171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10897800" y="1508620"/>
              <a:ext cx="2588400" cy="398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100"/>
                </a:lnSpc>
              </a:pPr>
              <a:r>
                <a:rPr lang="en-US" b="true" sz="2100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PIXCRAWLER</a:t>
              </a:r>
            </a:p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28413" cy="1857011"/>
            </a:xfrm>
            <a:custGeom>
              <a:avLst/>
              <a:gdLst/>
              <a:ahLst/>
              <a:cxnLst/>
              <a:rect r="r" b="b" t="t" l="l"/>
              <a:pathLst>
                <a:path h="1857011" w="2228413">
                  <a:moveTo>
                    <a:pt x="0" y="0"/>
                  </a:moveTo>
                  <a:lnTo>
                    <a:pt x="2228413" y="0"/>
                  </a:lnTo>
                  <a:lnTo>
                    <a:pt x="2228413" y="1857011"/>
                  </a:lnTo>
                  <a:lnTo>
                    <a:pt x="0" y="18570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9433456" y="1794798"/>
            <a:ext cx="8502719" cy="7674522"/>
          </a:xfrm>
          <a:custGeom>
            <a:avLst/>
            <a:gdLst/>
            <a:ahLst/>
            <a:cxnLst/>
            <a:rect r="r" b="b" t="t" l="l"/>
            <a:pathLst>
              <a:path h="7674522" w="8502719">
                <a:moveTo>
                  <a:pt x="0" y="0"/>
                </a:moveTo>
                <a:lnTo>
                  <a:pt x="8502719" y="0"/>
                </a:lnTo>
                <a:lnTo>
                  <a:pt x="8502719" y="7674521"/>
                </a:lnTo>
                <a:lnTo>
                  <a:pt x="0" y="76745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671" t="-16971" r="-10608" b="-18505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15471" y="2176855"/>
            <a:ext cx="8243515" cy="103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</a:pPr>
            <a:r>
              <a:rPr lang="en-US" sz="7200">
                <a:solidFill>
                  <a:srgbClr val="0E5C6A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Architecture Overview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6750" y="3756334"/>
            <a:ext cx="7506600" cy="461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0A3C46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Monorepo Structure: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b</a:t>
            </a:r>
            <a:r>
              <a:rPr lang="en-US" sz="2599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ackend/ → FastAPI + Celery + SQLAlchemy + pydantic v2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builder/ → Crawling engine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validator/ → Validation &amp; hashing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celery_core/ → Distributed</a:t>
            </a:r>
            <a:r>
              <a:rPr lang="en-US" sz="2599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execution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uti</a:t>
            </a:r>
            <a:r>
              <a:rPr lang="en-US" sz="2599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lity/ → Logging, compression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frontend/ → Next.js 15 dashboard</a:t>
            </a:r>
          </a:p>
          <a:p>
            <a:pPr algn="l">
              <a:lnSpc>
                <a:spcPts val="3779"/>
              </a:lnSpc>
            </a:pPr>
            <a:r>
              <a:rPr lang="en-US" b="true" sz="2699">
                <a:solidFill>
                  <a:srgbClr val="0A3C46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Features</a:t>
            </a:r>
            <a:r>
              <a:rPr lang="en-US" sz="2699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:  Modular, scalable, maintainable architecture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666750" y="9625012"/>
            <a:ext cx="5753100" cy="0"/>
          </a:xfrm>
          <a:prstGeom prst="line">
            <a:avLst/>
          </a:prstGeom>
          <a:ln cap="flat" w="9525">
            <a:solidFill>
              <a:srgbClr val="0A3C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7688019" y="3630389"/>
            <a:ext cx="10398275" cy="4317892"/>
          </a:xfrm>
          <a:custGeom>
            <a:avLst/>
            <a:gdLst/>
            <a:ahLst/>
            <a:cxnLst/>
            <a:rect r="r" b="b" t="t" l="l"/>
            <a:pathLst>
              <a:path h="4317892" w="10398275">
                <a:moveTo>
                  <a:pt x="0" y="0"/>
                </a:moveTo>
                <a:lnTo>
                  <a:pt x="10398275" y="0"/>
                </a:lnTo>
                <a:lnTo>
                  <a:pt x="10398275" y="4317892"/>
                </a:lnTo>
                <a:lnTo>
                  <a:pt x="0" y="43178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3552" r="0" b="-67265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15471" y="2176855"/>
            <a:ext cx="7172549" cy="103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</a:pPr>
            <a:r>
              <a:rPr lang="en-US" sz="7200">
                <a:solidFill>
                  <a:srgbClr val="0E5C6A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Technology Stack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9780" y="4622205"/>
            <a:ext cx="7932504" cy="2911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1855" indent="-360928" lvl="1">
              <a:lnSpc>
                <a:spcPts val="4680"/>
              </a:lnSpc>
              <a:buFont typeface="Arial"/>
              <a:buChar char="•"/>
            </a:pPr>
            <a:r>
              <a:rPr lang="en-US" sz="3343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Ba</a:t>
            </a:r>
            <a:r>
              <a:rPr lang="en-US" sz="3343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ckend: FastAPI, SQLAlchemy 2.0, Celery, Redis, UV</a:t>
            </a:r>
          </a:p>
          <a:p>
            <a:pPr algn="l" marL="721855" indent="-360928" lvl="1">
              <a:lnSpc>
                <a:spcPts val="4680"/>
              </a:lnSpc>
              <a:buFont typeface="Arial"/>
              <a:buChar char="•"/>
            </a:pPr>
            <a:r>
              <a:rPr lang="en-US" sz="3343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Validation: Pydantic v2, Pillow (PIL)</a:t>
            </a:r>
          </a:p>
          <a:p>
            <a:pPr algn="l" marL="721855" indent="-360928" lvl="1">
              <a:lnSpc>
                <a:spcPts val="4680"/>
              </a:lnSpc>
              <a:buFont typeface="Arial"/>
              <a:buChar char="•"/>
            </a:pPr>
            <a:r>
              <a:rPr lang="en-US" sz="3343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Quality/DevOps: Pytest</a:t>
            </a:r>
          </a:p>
          <a:p>
            <a:pPr algn="l" marL="721855" indent="-360928" lvl="1">
              <a:lnSpc>
                <a:spcPts val="4680"/>
              </a:lnSpc>
              <a:buFont typeface="Arial"/>
              <a:buChar char="•"/>
            </a:pPr>
            <a:r>
              <a:rPr lang="en-US" sz="3343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Documentation: OpenAPI, ReDoc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0" y="0"/>
            <a:ext cx="18086294" cy="1640807"/>
            <a:chOff x="0" y="0"/>
            <a:chExt cx="24115059" cy="2187743"/>
          </a:xfrm>
        </p:grpSpPr>
        <p:sp>
          <p:nvSpPr>
            <p:cNvPr name="AutoShape 7" id="7"/>
            <p:cNvSpPr/>
            <p:nvPr/>
          </p:nvSpPr>
          <p:spPr>
            <a:xfrm>
              <a:off x="501706" y="2181393"/>
              <a:ext cx="23380588" cy="0"/>
            </a:xfrm>
            <a:prstGeom prst="line">
              <a:avLst/>
            </a:prstGeom>
            <a:ln cap="flat" w="127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0957983" y="180709"/>
              <a:ext cx="3157076" cy="1462942"/>
            </a:xfrm>
            <a:custGeom>
              <a:avLst/>
              <a:gdLst/>
              <a:ahLst/>
              <a:cxnLst/>
              <a:rect r="r" b="b" t="t" l="l"/>
              <a:pathLst>
                <a:path h="1462942" w="3157076">
                  <a:moveTo>
                    <a:pt x="0" y="0"/>
                  </a:moveTo>
                  <a:lnTo>
                    <a:pt x="3157076" y="0"/>
                  </a:lnTo>
                  <a:lnTo>
                    <a:pt x="3157076" y="1462941"/>
                  </a:lnTo>
                  <a:lnTo>
                    <a:pt x="0" y="1462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13" r="0" b="-17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10897800" y="1508620"/>
              <a:ext cx="2588400" cy="398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100"/>
                </a:lnSpc>
              </a:pPr>
              <a:r>
                <a:rPr lang="en-US" b="true" sz="2100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PIXCRAWLER</a:t>
              </a:r>
            </a:p>
          </p:txBody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28413" cy="1857011"/>
            </a:xfrm>
            <a:custGeom>
              <a:avLst/>
              <a:gdLst/>
              <a:ahLst/>
              <a:cxnLst/>
              <a:rect r="r" b="b" t="t" l="l"/>
              <a:pathLst>
                <a:path h="1857011" w="2228413">
                  <a:moveTo>
                    <a:pt x="0" y="0"/>
                  </a:moveTo>
                  <a:lnTo>
                    <a:pt x="2228413" y="0"/>
                  </a:lnTo>
                  <a:lnTo>
                    <a:pt x="2228413" y="1857011"/>
                  </a:lnTo>
                  <a:lnTo>
                    <a:pt x="0" y="18570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666750" y="9625012"/>
            <a:ext cx="5753100" cy="0"/>
          </a:xfrm>
          <a:prstGeom prst="line">
            <a:avLst/>
          </a:prstGeom>
          <a:ln cap="flat" w="9525">
            <a:solidFill>
              <a:srgbClr val="0A3C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7688019" y="3630389"/>
            <a:ext cx="10398275" cy="4317892"/>
          </a:xfrm>
          <a:custGeom>
            <a:avLst/>
            <a:gdLst/>
            <a:ahLst/>
            <a:cxnLst/>
            <a:rect r="r" b="b" t="t" l="l"/>
            <a:pathLst>
              <a:path h="4317892" w="10398275">
                <a:moveTo>
                  <a:pt x="0" y="0"/>
                </a:moveTo>
                <a:lnTo>
                  <a:pt x="10398275" y="0"/>
                </a:lnTo>
                <a:lnTo>
                  <a:pt x="10398275" y="4317892"/>
                </a:lnTo>
                <a:lnTo>
                  <a:pt x="0" y="43178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3552" r="0" b="-67265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15471" y="2176855"/>
            <a:ext cx="7172549" cy="103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</a:pPr>
            <a:r>
              <a:rPr lang="en-US" sz="7200">
                <a:solidFill>
                  <a:srgbClr val="0E5C6A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Technology Stack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0"/>
            <a:ext cx="18086294" cy="1640807"/>
            <a:chOff x="0" y="0"/>
            <a:chExt cx="24115059" cy="2187743"/>
          </a:xfrm>
        </p:grpSpPr>
        <p:sp>
          <p:nvSpPr>
            <p:cNvPr name="AutoShape 6" id="6"/>
            <p:cNvSpPr/>
            <p:nvPr/>
          </p:nvSpPr>
          <p:spPr>
            <a:xfrm>
              <a:off x="501706" y="2181393"/>
              <a:ext cx="23380588" cy="0"/>
            </a:xfrm>
            <a:prstGeom prst="line">
              <a:avLst/>
            </a:prstGeom>
            <a:ln cap="flat" w="127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0957983" y="180709"/>
              <a:ext cx="3157076" cy="1462942"/>
            </a:xfrm>
            <a:custGeom>
              <a:avLst/>
              <a:gdLst/>
              <a:ahLst/>
              <a:cxnLst/>
              <a:rect r="r" b="b" t="t" l="l"/>
              <a:pathLst>
                <a:path h="1462942" w="3157076">
                  <a:moveTo>
                    <a:pt x="0" y="0"/>
                  </a:moveTo>
                  <a:lnTo>
                    <a:pt x="3157076" y="0"/>
                  </a:lnTo>
                  <a:lnTo>
                    <a:pt x="3157076" y="1462941"/>
                  </a:lnTo>
                  <a:lnTo>
                    <a:pt x="0" y="1462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13" r="0" b="-171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10897800" y="1508620"/>
              <a:ext cx="2588400" cy="398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100"/>
                </a:lnSpc>
              </a:pPr>
              <a:r>
                <a:rPr lang="en-US" b="true" sz="2100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PIXCRAWLER</a:t>
              </a:r>
            </a:p>
          </p:txBody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28413" cy="1857011"/>
            </a:xfrm>
            <a:custGeom>
              <a:avLst/>
              <a:gdLst/>
              <a:ahLst/>
              <a:cxnLst/>
              <a:rect r="r" b="b" t="t" l="l"/>
              <a:pathLst>
                <a:path h="1857011" w="2228413">
                  <a:moveTo>
                    <a:pt x="0" y="0"/>
                  </a:moveTo>
                  <a:lnTo>
                    <a:pt x="2228413" y="0"/>
                  </a:lnTo>
                  <a:lnTo>
                    <a:pt x="2228413" y="1857011"/>
                  </a:lnTo>
                  <a:lnTo>
                    <a:pt x="0" y="18570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0" y="4904006"/>
            <a:ext cx="7688019" cy="1979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9821" indent="-389911" lvl="1">
              <a:lnSpc>
                <a:spcPts val="3973"/>
              </a:lnSpc>
              <a:buFont typeface="Arial"/>
              <a:buChar char="•"/>
            </a:pPr>
            <a:r>
              <a:rPr lang="en-US" sz="361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Frontend: Next.js 15, React 19, Tailwind, Drizzle, Supabase</a:t>
            </a:r>
          </a:p>
          <a:p>
            <a:pPr algn="l" marL="779821" indent="-389911" lvl="1">
              <a:lnSpc>
                <a:spcPts val="3973"/>
              </a:lnSpc>
              <a:buFont typeface="Arial"/>
              <a:buChar char="•"/>
            </a:pPr>
            <a:r>
              <a:rPr lang="en-US" sz="361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Cloud: Data lake Blobs, Supabase PostgreSQL, Azure Static Pages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666750" y="9625012"/>
            <a:ext cx="5753100" cy="0"/>
          </a:xfrm>
          <a:prstGeom prst="line">
            <a:avLst/>
          </a:prstGeom>
          <a:ln cap="flat" w="9525">
            <a:solidFill>
              <a:srgbClr val="0A3C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9444723" y="2107813"/>
            <a:ext cx="8466997" cy="8179187"/>
          </a:xfrm>
          <a:custGeom>
            <a:avLst/>
            <a:gdLst/>
            <a:ahLst/>
            <a:cxnLst/>
            <a:rect r="r" b="b" t="t" l="l"/>
            <a:pathLst>
              <a:path h="8179187" w="8466997">
                <a:moveTo>
                  <a:pt x="0" y="0"/>
                </a:moveTo>
                <a:lnTo>
                  <a:pt x="8466998" y="0"/>
                </a:lnTo>
                <a:lnTo>
                  <a:pt x="8466998" y="8179187"/>
                </a:lnTo>
                <a:lnTo>
                  <a:pt x="0" y="8179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603" r="0" b="-915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15471" y="2176855"/>
            <a:ext cx="8782952" cy="103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</a:pPr>
            <a:r>
              <a:rPr lang="en-US" sz="7200">
                <a:solidFill>
                  <a:srgbClr val="0E5C6A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Data Pipeline Overview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15471" y="3658945"/>
            <a:ext cx="7618240" cy="4553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640"/>
              </a:lnSpc>
              <a:buAutoNum type="arabicPeriod" startAt="1"/>
            </a:pPr>
            <a:r>
              <a:rPr lang="en-US" sz="2600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User </a:t>
            </a:r>
            <a:r>
              <a:rPr lang="en-US" sz="2600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creates a crawl job</a:t>
            </a:r>
          </a:p>
          <a:p>
            <a:pPr algn="l" marL="561341" indent="-280670" lvl="1">
              <a:lnSpc>
                <a:spcPts val="3640"/>
              </a:lnSpc>
              <a:buAutoNum type="arabicPeriod" startAt="1"/>
            </a:pPr>
            <a:r>
              <a:rPr lang="en-US" sz="2600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FastAPI registers job in database</a:t>
            </a:r>
          </a:p>
          <a:p>
            <a:pPr algn="l" marL="561341" indent="-280670" lvl="1">
              <a:lnSpc>
                <a:spcPts val="3640"/>
              </a:lnSpc>
              <a:buAutoNum type="arabicPeriod" startAt="1"/>
            </a:pPr>
            <a:r>
              <a:rPr lang="en-US" sz="2600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Celery distributes workload across 35 workers</a:t>
            </a:r>
          </a:p>
          <a:p>
            <a:pPr algn="l" marL="561341" indent="-280670" lvl="1">
              <a:lnSpc>
                <a:spcPts val="3640"/>
              </a:lnSpc>
              <a:buAutoNum type="arabicPeriod" startAt="1"/>
            </a:pPr>
            <a:r>
              <a:rPr lang="en-US" sz="2600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Workers download images in 50-image batches</a:t>
            </a:r>
          </a:p>
          <a:p>
            <a:pPr algn="l" marL="561341" indent="-280670" lvl="1">
              <a:lnSpc>
                <a:spcPts val="3640"/>
              </a:lnSpc>
              <a:buAutoNum type="arabicPeriod" startAt="1"/>
            </a:pPr>
            <a:r>
              <a:rPr lang="en-US" sz="2600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Validator checks resolution, format, duplicates, corruption</a:t>
            </a:r>
          </a:p>
          <a:p>
            <a:pPr algn="l" marL="561341" indent="-280670" lvl="1">
              <a:lnSpc>
                <a:spcPts val="3640"/>
              </a:lnSpc>
              <a:buAutoNum type="arabicPeriod" startAt="1"/>
            </a:pPr>
            <a:r>
              <a:rPr lang="en-US" sz="2600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Checkpoints saved</a:t>
            </a:r>
            <a:r>
              <a:rPr lang="en-US" sz="2600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every 50 images</a:t>
            </a:r>
          </a:p>
          <a:p>
            <a:pPr algn="l" marL="561341" indent="-280670" lvl="1">
              <a:lnSpc>
                <a:spcPts val="3640"/>
              </a:lnSpc>
              <a:buAutoNum type="arabicPeriod" startAt="1"/>
            </a:pPr>
            <a:r>
              <a:rPr lang="en-US" sz="2600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Dataset org</a:t>
            </a:r>
            <a:r>
              <a:rPr lang="en-US" sz="2600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anized by categories</a:t>
            </a:r>
          </a:p>
          <a:p>
            <a:pPr algn="l" marL="561341" indent="-280670" lvl="1">
              <a:lnSpc>
                <a:spcPts val="3640"/>
              </a:lnSpc>
              <a:buAutoNum type="arabicPeriod" startAt="1"/>
            </a:pPr>
            <a:r>
              <a:rPr lang="en-US" sz="2600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Exported to ZIP/7z and uploaded to Azure</a:t>
            </a:r>
          </a:p>
          <a:p>
            <a:pPr algn="l" marL="561341" indent="-280670" lvl="1">
              <a:lnSpc>
                <a:spcPts val="3640"/>
              </a:lnSpc>
              <a:buAutoNum type="arabicPeriod" startAt="1"/>
            </a:pPr>
            <a:r>
              <a:rPr lang="en-US" sz="2600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User receives notifications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0" y="0"/>
            <a:ext cx="18086294" cy="1640807"/>
            <a:chOff x="0" y="0"/>
            <a:chExt cx="24115059" cy="2187743"/>
          </a:xfrm>
        </p:grpSpPr>
        <p:sp>
          <p:nvSpPr>
            <p:cNvPr name="AutoShape 7" id="7"/>
            <p:cNvSpPr/>
            <p:nvPr/>
          </p:nvSpPr>
          <p:spPr>
            <a:xfrm>
              <a:off x="501706" y="2181393"/>
              <a:ext cx="23380588" cy="0"/>
            </a:xfrm>
            <a:prstGeom prst="line">
              <a:avLst/>
            </a:prstGeom>
            <a:ln cap="flat" w="127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0957983" y="180709"/>
              <a:ext cx="3157076" cy="1462942"/>
            </a:xfrm>
            <a:custGeom>
              <a:avLst/>
              <a:gdLst/>
              <a:ahLst/>
              <a:cxnLst/>
              <a:rect r="r" b="b" t="t" l="l"/>
              <a:pathLst>
                <a:path h="1462942" w="3157076">
                  <a:moveTo>
                    <a:pt x="0" y="0"/>
                  </a:moveTo>
                  <a:lnTo>
                    <a:pt x="3157076" y="0"/>
                  </a:lnTo>
                  <a:lnTo>
                    <a:pt x="3157076" y="1462941"/>
                  </a:lnTo>
                  <a:lnTo>
                    <a:pt x="0" y="1462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13" r="0" b="-17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10897800" y="1508620"/>
              <a:ext cx="2588400" cy="398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100"/>
                </a:lnSpc>
              </a:pPr>
              <a:r>
                <a:rPr lang="en-US" b="true" sz="2100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PIXCRAWLER</a:t>
              </a:r>
            </a:p>
          </p:txBody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28413" cy="1857011"/>
            </a:xfrm>
            <a:custGeom>
              <a:avLst/>
              <a:gdLst/>
              <a:ahLst/>
              <a:cxnLst/>
              <a:rect r="r" b="b" t="t" l="l"/>
              <a:pathLst>
                <a:path h="1857011" w="2228413">
                  <a:moveTo>
                    <a:pt x="0" y="0"/>
                  </a:moveTo>
                  <a:lnTo>
                    <a:pt x="2228413" y="0"/>
                  </a:lnTo>
                  <a:lnTo>
                    <a:pt x="2228413" y="1857011"/>
                  </a:lnTo>
                  <a:lnTo>
                    <a:pt x="0" y="18570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666750" y="9625012"/>
            <a:ext cx="5753100" cy="0"/>
          </a:xfrm>
          <a:prstGeom prst="line">
            <a:avLst/>
          </a:prstGeom>
          <a:ln cap="flat" w="9525">
            <a:solidFill>
              <a:srgbClr val="0A3C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195161" y="3373596"/>
            <a:ext cx="5224689" cy="5411637"/>
          </a:xfrm>
          <a:custGeom>
            <a:avLst/>
            <a:gdLst/>
            <a:ahLst/>
            <a:cxnLst/>
            <a:rect r="r" b="b" t="t" l="l"/>
            <a:pathLst>
              <a:path h="5411637" w="5224689">
                <a:moveTo>
                  <a:pt x="0" y="0"/>
                </a:moveTo>
                <a:lnTo>
                  <a:pt x="5224689" y="0"/>
                </a:lnTo>
                <a:lnTo>
                  <a:pt x="5224689" y="5411636"/>
                </a:lnTo>
                <a:lnTo>
                  <a:pt x="0" y="54116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15471" y="2176855"/>
            <a:ext cx="11231646" cy="103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</a:pPr>
            <a:r>
              <a:rPr lang="en-US" sz="7200">
                <a:solidFill>
                  <a:srgbClr val="0E5C6A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Dataset Organization Structure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60403" y="4007409"/>
            <a:ext cx="4894090" cy="4096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dataset_name/</a:t>
            </a:r>
          </a:p>
          <a:p>
            <a:pPr algn="l" marL="0" indent="0" lvl="1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├── images/</a:t>
            </a:r>
          </a:p>
          <a:p>
            <a:pPr algn="l" marL="0" indent="0" lvl="1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│     ├── category/</a:t>
            </a:r>
          </a:p>
          <a:p>
            <a:pPr algn="l" marL="0" indent="0" lvl="1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│     │     ├── image_001.jpg</a:t>
            </a:r>
          </a:p>
          <a:p>
            <a:pPr algn="l" marL="0" indent="0" lvl="1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│     │     └── image_002.jpg</a:t>
            </a:r>
          </a:p>
          <a:p>
            <a:pPr algn="l" marL="0" indent="0" lvl="1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└── labels/</a:t>
            </a:r>
          </a:p>
          <a:p>
            <a:pPr algn="l" marL="0" indent="0" lvl="1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      ├── category/</a:t>
            </a:r>
          </a:p>
          <a:p>
            <a:pPr algn="l" marL="0" indent="0" lvl="1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            ├── image_001.txt</a:t>
            </a:r>
          </a:p>
          <a:p>
            <a:pPr algn="l" marL="0" indent="0" lvl="1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            └── image_002.txt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0" y="4443095"/>
            <a:ext cx="8257989" cy="1353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</a:t>
            </a:r>
            <a:r>
              <a:rPr lang="en-US" sz="2600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abels: JSON, CSV, YAML, TXT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Metadata includes validation logs, crawl</a:t>
            </a:r>
            <a:r>
              <a:rPr lang="en-US" sz="2600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s</a:t>
            </a:r>
            <a:r>
              <a:rPr lang="en-US" sz="2600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our</a:t>
            </a:r>
            <a:r>
              <a:rPr lang="en-US" sz="2600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ce (Celery), and file info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0" y="0"/>
            <a:ext cx="18086294" cy="1640807"/>
            <a:chOff x="0" y="0"/>
            <a:chExt cx="24115059" cy="2187743"/>
          </a:xfrm>
        </p:grpSpPr>
        <p:sp>
          <p:nvSpPr>
            <p:cNvPr name="AutoShape 8" id="8"/>
            <p:cNvSpPr/>
            <p:nvPr/>
          </p:nvSpPr>
          <p:spPr>
            <a:xfrm>
              <a:off x="501706" y="2181393"/>
              <a:ext cx="23380588" cy="0"/>
            </a:xfrm>
            <a:prstGeom prst="line">
              <a:avLst/>
            </a:prstGeom>
            <a:ln cap="flat" w="127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0957983" y="180709"/>
              <a:ext cx="3157076" cy="1462942"/>
            </a:xfrm>
            <a:custGeom>
              <a:avLst/>
              <a:gdLst/>
              <a:ahLst/>
              <a:cxnLst/>
              <a:rect r="r" b="b" t="t" l="l"/>
              <a:pathLst>
                <a:path h="1462942" w="3157076">
                  <a:moveTo>
                    <a:pt x="0" y="0"/>
                  </a:moveTo>
                  <a:lnTo>
                    <a:pt x="3157076" y="0"/>
                  </a:lnTo>
                  <a:lnTo>
                    <a:pt x="3157076" y="1462941"/>
                  </a:lnTo>
                  <a:lnTo>
                    <a:pt x="0" y="1462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713" r="0" b="-17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10897800" y="1508620"/>
              <a:ext cx="2588400" cy="398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100"/>
                </a:lnSpc>
              </a:pPr>
              <a:r>
                <a:rPr lang="en-US" b="true" sz="2100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PIXCRAWLER</a:t>
              </a:r>
            </a:p>
          </p:txBody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28413" cy="1857011"/>
            </a:xfrm>
            <a:custGeom>
              <a:avLst/>
              <a:gdLst/>
              <a:ahLst/>
              <a:cxnLst/>
              <a:rect r="r" b="b" t="t" l="l"/>
              <a:pathLst>
                <a:path h="1857011" w="2228413">
                  <a:moveTo>
                    <a:pt x="0" y="0"/>
                  </a:moveTo>
                  <a:lnTo>
                    <a:pt x="2228413" y="0"/>
                  </a:lnTo>
                  <a:lnTo>
                    <a:pt x="2228413" y="1857011"/>
                  </a:lnTo>
                  <a:lnTo>
                    <a:pt x="0" y="18570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666750" y="9625012"/>
            <a:ext cx="5753100" cy="0"/>
          </a:xfrm>
          <a:prstGeom prst="line">
            <a:avLst/>
          </a:prstGeom>
          <a:ln cap="flat" w="9525">
            <a:solidFill>
              <a:srgbClr val="0A3C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114650" y="1969700"/>
            <a:ext cx="8133392" cy="8045621"/>
          </a:xfrm>
          <a:custGeom>
            <a:avLst/>
            <a:gdLst/>
            <a:ahLst/>
            <a:cxnLst/>
            <a:rect r="r" b="b" t="t" l="l"/>
            <a:pathLst>
              <a:path h="8045621" w="8133392">
                <a:moveTo>
                  <a:pt x="0" y="0"/>
                </a:moveTo>
                <a:lnTo>
                  <a:pt x="8133392" y="0"/>
                </a:lnTo>
                <a:lnTo>
                  <a:pt x="8133392" y="8045622"/>
                </a:lnTo>
                <a:lnTo>
                  <a:pt x="0" y="80456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832" t="-6655" r="-5947" b="-6343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15471" y="2176855"/>
            <a:ext cx="10040389" cy="103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</a:pPr>
            <a:r>
              <a:rPr lang="en-US" sz="7200">
                <a:solidFill>
                  <a:srgbClr val="0E5C6A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Image Quality &amp; Validation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15471" y="3826126"/>
            <a:ext cx="8257989" cy="226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Minimum r</a:t>
            </a:r>
            <a:r>
              <a:rPr lang="en-US" sz="2600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esolution: 224×224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Supported formats: JPG, PNG, WebP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Corruption &amp; integrity checks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Deduplication via perceptual</a:t>
            </a:r>
            <a:r>
              <a:rPr lang="en-US" sz="2600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&amp; c</a:t>
            </a:r>
            <a:r>
              <a:rPr lang="en-US" sz="2600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ont</a:t>
            </a:r>
            <a:r>
              <a:rPr lang="en-US" sz="2600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ent hashing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Optional strict mode for ML datasets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0" y="0"/>
            <a:ext cx="18086294" cy="1640807"/>
            <a:chOff x="0" y="0"/>
            <a:chExt cx="24115059" cy="2187743"/>
          </a:xfrm>
        </p:grpSpPr>
        <p:sp>
          <p:nvSpPr>
            <p:cNvPr name="AutoShape 7" id="7"/>
            <p:cNvSpPr/>
            <p:nvPr/>
          </p:nvSpPr>
          <p:spPr>
            <a:xfrm>
              <a:off x="501706" y="2181393"/>
              <a:ext cx="23380588" cy="0"/>
            </a:xfrm>
            <a:prstGeom prst="line">
              <a:avLst/>
            </a:prstGeom>
            <a:ln cap="flat" w="127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0957983" y="180709"/>
              <a:ext cx="3157076" cy="1462942"/>
            </a:xfrm>
            <a:custGeom>
              <a:avLst/>
              <a:gdLst/>
              <a:ahLst/>
              <a:cxnLst/>
              <a:rect r="r" b="b" t="t" l="l"/>
              <a:pathLst>
                <a:path h="1462942" w="3157076">
                  <a:moveTo>
                    <a:pt x="0" y="0"/>
                  </a:moveTo>
                  <a:lnTo>
                    <a:pt x="3157076" y="0"/>
                  </a:lnTo>
                  <a:lnTo>
                    <a:pt x="3157076" y="1462941"/>
                  </a:lnTo>
                  <a:lnTo>
                    <a:pt x="0" y="1462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13" r="0" b="-17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10897800" y="1508620"/>
              <a:ext cx="2588400" cy="398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100"/>
                </a:lnSpc>
              </a:pPr>
              <a:r>
                <a:rPr lang="en-US" b="true" sz="2100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PIXCRAWLER</a:t>
              </a:r>
            </a:p>
          </p:txBody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28413" cy="1857011"/>
            </a:xfrm>
            <a:custGeom>
              <a:avLst/>
              <a:gdLst/>
              <a:ahLst/>
              <a:cxnLst/>
              <a:rect r="r" b="b" t="t" l="l"/>
              <a:pathLst>
                <a:path h="1857011" w="2228413">
                  <a:moveTo>
                    <a:pt x="0" y="0"/>
                  </a:moveTo>
                  <a:lnTo>
                    <a:pt x="2228413" y="0"/>
                  </a:lnTo>
                  <a:lnTo>
                    <a:pt x="2228413" y="1857011"/>
                  </a:lnTo>
                  <a:lnTo>
                    <a:pt x="0" y="18570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666750" y="9625012"/>
            <a:ext cx="5753100" cy="0"/>
          </a:xfrm>
          <a:prstGeom prst="line">
            <a:avLst/>
          </a:prstGeom>
          <a:ln cap="flat" w="9525">
            <a:solidFill>
              <a:srgbClr val="0A3C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898466" y="3134041"/>
            <a:ext cx="7013255" cy="6659462"/>
          </a:xfrm>
          <a:custGeom>
            <a:avLst/>
            <a:gdLst/>
            <a:ahLst/>
            <a:cxnLst/>
            <a:rect r="r" b="b" t="t" l="l"/>
            <a:pathLst>
              <a:path h="6659462" w="7013255">
                <a:moveTo>
                  <a:pt x="0" y="0"/>
                </a:moveTo>
                <a:lnTo>
                  <a:pt x="7013255" y="0"/>
                </a:lnTo>
                <a:lnTo>
                  <a:pt x="7013255" y="6659462"/>
                </a:lnTo>
                <a:lnTo>
                  <a:pt x="0" y="66594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79" t="-4515" r="-3531" b="-7968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15471" y="2176855"/>
            <a:ext cx="12356722" cy="103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</a:pPr>
            <a:r>
              <a:rPr lang="en-US" sz="7200">
                <a:solidFill>
                  <a:srgbClr val="0E5C6A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Real-Time Monitoring &amp; Updates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15471" y="4286786"/>
            <a:ext cx="8257989" cy="226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Live job progr</a:t>
            </a:r>
            <a:r>
              <a:rPr lang="en-US" sz="2600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ess (SSE + Supabase Realtime)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Streamed crawl logs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Worker status tracking &amp; heartbeat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Instant notifications: completion,</a:t>
            </a:r>
            <a:r>
              <a:rPr lang="en-US" sz="2600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billing, failures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Improves transparency and UX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0" y="0"/>
            <a:ext cx="18086294" cy="1640807"/>
            <a:chOff x="0" y="0"/>
            <a:chExt cx="24115059" cy="2187743"/>
          </a:xfrm>
        </p:grpSpPr>
        <p:sp>
          <p:nvSpPr>
            <p:cNvPr name="AutoShape 7" id="7"/>
            <p:cNvSpPr/>
            <p:nvPr/>
          </p:nvSpPr>
          <p:spPr>
            <a:xfrm>
              <a:off x="501706" y="2181393"/>
              <a:ext cx="23380588" cy="0"/>
            </a:xfrm>
            <a:prstGeom prst="line">
              <a:avLst/>
            </a:prstGeom>
            <a:ln cap="flat" w="127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0957983" y="180709"/>
              <a:ext cx="3157076" cy="1462942"/>
            </a:xfrm>
            <a:custGeom>
              <a:avLst/>
              <a:gdLst/>
              <a:ahLst/>
              <a:cxnLst/>
              <a:rect r="r" b="b" t="t" l="l"/>
              <a:pathLst>
                <a:path h="1462942" w="3157076">
                  <a:moveTo>
                    <a:pt x="0" y="0"/>
                  </a:moveTo>
                  <a:lnTo>
                    <a:pt x="3157076" y="0"/>
                  </a:lnTo>
                  <a:lnTo>
                    <a:pt x="3157076" y="1462941"/>
                  </a:lnTo>
                  <a:lnTo>
                    <a:pt x="0" y="1462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13" r="0" b="-17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10897800" y="1508620"/>
              <a:ext cx="2588400" cy="398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100"/>
                </a:lnSpc>
              </a:pPr>
              <a:r>
                <a:rPr lang="en-US" b="true" sz="2100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PIXCRAWLER</a:t>
              </a:r>
            </a:p>
          </p:txBody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28413" cy="1857011"/>
            </a:xfrm>
            <a:custGeom>
              <a:avLst/>
              <a:gdLst/>
              <a:ahLst/>
              <a:cxnLst/>
              <a:rect r="r" b="b" t="t" l="l"/>
              <a:pathLst>
                <a:path h="1857011" w="2228413">
                  <a:moveTo>
                    <a:pt x="0" y="0"/>
                  </a:moveTo>
                  <a:lnTo>
                    <a:pt x="2228413" y="0"/>
                  </a:lnTo>
                  <a:lnTo>
                    <a:pt x="2228413" y="1857011"/>
                  </a:lnTo>
                  <a:lnTo>
                    <a:pt x="0" y="18570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666750" y="9625012"/>
            <a:ext cx="5753100" cy="0"/>
          </a:xfrm>
          <a:prstGeom prst="line">
            <a:avLst/>
          </a:prstGeom>
          <a:ln cap="flat" w="9525">
            <a:solidFill>
              <a:srgbClr val="0A3C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017345" y="2119705"/>
            <a:ext cx="7801265" cy="7564602"/>
          </a:xfrm>
          <a:custGeom>
            <a:avLst/>
            <a:gdLst/>
            <a:ahLst/>
            <a:cxnLst/>
            <a:rect r="r" b="b" t="t" l="l"/>
            <a:pathLst>
              <a:path h="7564602" w="7801265">
                <a:moveTo>
                  <a:pt x="0" y="0"/>
                </a:moveTo>
                <a:lnTo>
                  <a:pt x="7801265" y="0"/>
                </a:lnTo>
                <a:lnTo>
                  <a:pt x="7801265" y="7564602"/>
                </a:lnTo>
                <a:lnTo>
                  <a:pt x="0" y="75646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705" t="-19119" r="-14143" b="-10667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15471" y="2176855"/>
            <a:ext cx="6157774" cy="103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</a:pPr>
            <a:r>
              <a:rPr lang="en-US" sz="7200">
                <a:solidFill>
                  <a:srgbClr val="0E5C6A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Security Model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15471" y="4411151"/>
            <a:ext cx="7485878" cy="272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Supabase Auth (email/password + OAuth)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Row-Level Security (RLS) for user isolation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API key protection using Middleware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Presigne0d URLs with expiration (Used only with azure)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Full audit logging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0" y="0"/>
            <a:ext cx="18086294" cy="1640807"/>
            <a:chOff x="0" y="0"/>
            <a:chExt cx="24115059" cy="2187743"/>
          </a:xfrm>
        </p:grpSpPr>
        <p:sp>
          <p:nvSpPr>
            <p:cNvPr name="AutoShape 7" id="7"/>
            <p:cNvSpPr/>
            <p:nvPr/>
          </p:nvSpPr>
          <p:spPr>
            <a:xfrm>
              <a:off x="501706" y="2181393"/>
              <a:ext cx="23380588" cy="0"/>
            </a:xfrm>
            <a:prstGeom prst="line">
              <a:avLst/>
            </a:prstGeom>
            <a:ln cap="flat" w="127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0957983" y="180709"/>
              <a:ext cx="3157076" cy="1462942"/>
            </a:xfrm>
            <a:custGeom>
              <a:avLst/>
              <a:gdLst/>
              <a:ahLst/>
              <a:cxnLst/>
              <a:rect r="r" b="b" t="t" l="l"/>
              <a:pathLst>
                <a:path h="1462942" w="3157076">
                  <a:moveTo>
                    <a:pt x="0" y="0"/>
                  </a:moveTo>
                  <a:lnTo>
                    <a:pt x="3157076" y="0"/>
                  </a:lnTo>
                  <a:lnTo>
                    <a:pt x="3157076" y="1462941"/>
                  </a:lnTo>
                  <a:lnTo>
                    <a:pt x="0" y="1462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13" r="0" b="-17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10897800" y="1508620"/>
              <a:ext cx="2588400" cy="398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100"/>
                </a:lnSpc>
              </a:pPr>
              <a:r>
                <a:rPr lang="en-US" b="true" sz="2100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PIXCRAWLER</a:t>
              </a:r>
            </a:p>
          </p:txBody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28413" cy="1857011"/>
            </a:xfrm>
            <a:custGeom>
              <a:avLst/>
              <a:gdLst/>
              <a:ahLst/>
              <a:cxnLst/>
              <a:rect r="r" b="b" t="t" l="l"/>
              <a:pathLst>
                <a:path h="1857011" w="2228413">
                  <a:moveTo>
                    <a:pt x="0" y="0"/>
                  </a:moveTo>
                  <a:lnTo>
                    <a:pt x="2228413" y="0"/>
                  </a:lnTo>
                  <a:lnTo>
                    <a:pt x="2228413" y="1857011"/>
                  </a:lnTo>
                  <a:lnTo>
                    <a:pt x="0" y="18570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666750" y="9625012"/>
            <a:ext cx="5753100" cy="0"/>
          </a:xfrm>
          <a:prstGeom prst="line">
            <a:avLst/>
          </a:prstGeom>
          <a:ln cap="flat" w="9525">
            <a:solidFill>
              <a:srgbClr val="0A3C4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086294" cy="1640807"/>
            <a:chOff x="0" y="0"/>
            <a:chExt cx="24115059" cy="2187743"/>
          </a:xfrm>
        </p:grpSpPr>
        <p:sp>
          <p:nvSpPr>
            <p:cNvPr name="AutoShape 4" id="4"/>
            <p:cNvSpPr/>
            <p:nvPr/>
          </p:nvSpPr>
          <p:spPr>
            <a:xfrm>
              <a:off x="501706" y="2181393"/>
              <a:ext cx="23380588" cy="0"/>
            </a:xfrm>
            <a:prstGeom prst="line">
              <a:avLst/>
            </a:prstGeom>
            <a:ln cap="flat" w="127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0957983" y="180709"/>
              <a:ext cx="3157076" cy="1462942"/>
            </a:xfrm>
            <a:custGeom>
              <a:avLst/>
              <a:gdLst/>
              <a:ahLst/>
              <a:cxnLst/>
              <a:rect r="r" b="b" t="t" l="l"/>
              <a:pathLst>
                <a:path h="1462942" w="3157076">
                  <a:moveTo>
                    <a:pt x="0" y="0"/>
                  </a:moveTo>
                  <a:lnTo>
                    <a:pt x="3157076" y="0"/>
                  </a:lnTo>
                  <a:lnTo>
                    <a:pt x="3157076" y="1462941"/>
                  </a:lnTo>
                  <a:lnTo>
                    <a:pt x="0" y="1462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713" r="0" b="-171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10897800" y="1508620"/>
              <a:ext cx="2588400" cy="398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100"/>
                </a:lnSpc>
              </a:pPr>
              <a:r>
                <a:rPr lang="en-US" b="true" sz="2100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PIXCRAWLER</a:t>
              </a:r>
            </a:p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28413" cy="1857011"/>
            </a:xfrm>
            <a:custGeom>
              <a:avLst/>
              <a:gdLst/>
              <a:ahLst/>
              <a:cxnLst/>
              <a:rect r="r" b="b" t="t" l="l"/>
              <a:pathLst>
                <a:path h="1857011" w="2228413">
                  <a:moveTo>
                    <a:pt x="0" y="0"/>
                  </a:moveTo>
                  <a:lnTo>
                    <a:pt x="2228413" y="0"/>
                  </a:lnTo>
                  <a:lnTo>
                    <a:pt x="2228413" y="1857011"/>
                  </a:lnTo>
                  <a:lnTo>
                    <a:pt x="0" y="18570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8397319" y="2788775"/>
            <a:ext cx="9890681" cy="5374948"/>
          </a:xfrm>
          <a:custGeom>
            <a:avLst/>
            <a:gdLst/>
            <a:ahLst/>
            <a:cxnLst/>
            <a:rect r="r" b="b" t="t" l="l"/>
            <a:pathLst>
              <a:path h="5374948" w="9890681">
                <a:moveTo>
                  <a:pt x="0" y="0"/>
                </a:moveTo>
                <a:lnTo>
                  <a:pt x="9890681" y="0"/>
                </a:lnTo>
                <a:lnTo>
                  <a:pt x="9890681" y="5374948"/>
                </a:lnTo>
                <a:lnTo>
                  <a:pt x="0" y="53749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287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5012" y="2176855"/>
            <a:ext cx="7717372" cy="1951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04"/>
              </a:lnSpc>
            </a:pPr>
            <a:r>
              <a:rPr lang="en-US" sz="6912">
                <a:solidFill>
                  <a:srgbClr val="0E5C6A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Safe &amp; Restricted Dataset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0760" y="4820995"/>
            <a:ext cx="7918534" cy="1921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0"/>
              </a:lnSpc>
            </a:pPr>
            <a:r>
              <a:rPr lang="en-US" sz="2750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</a:t>
            </a:r>
            <a:r>
              <a:rPr lang="en-US" sz="2750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ur image datasets are fully safe and restricted. All images are filtered to remove harmful or adult content, ensuring high-quality, AI-</a:t>
            </a:r>
            <a:r>
              <a:rPr lang="en-US" sz="2750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ready datasets for machine learning projects. 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666750" y="9625012"/>
            <a:ext cx="5753100" cy="0"/>
          </a:xfrm>
          <a:prstGeom prst="line">
            <a:avLst/>
          </a:prstGeom>
          <a:ln cap="flat" w="9525">
            <a:solidFill>
              <a:srgbClr val="0A3C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419850" y="3211270"/>
            <a:ext cx="5520088" cy="2976741"/>
          </a:xfrm>
          <a:custGeom>
            <a:avLst/>
            <a:gdLst/>
            <a:ahLst/>
            <a:cxnLst/>
            <a:rect r="r" b="b" t="t" l="l"/>
            <a:pathLst>
              <a:path h="2976741" w="5520088">
                <a:moveTo>
                  <a:pt x="0" y="0"/>
                </a:moveTo>
                <a:lnTo>
                  <a:pt x="5520088" y="0"/>
                </a:lnTo>
                <a:lnTo>
                  <a:pt x="5520088" y="2976741"/>
                </a:lnTo>
                <a:lnTo>
                  <a:pt x="0" y="29767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148" t="-70929" r="-13390" b="-63725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15471" y="2176855"/>
            <a:ext cx="8628529" cy="103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</a:pPr>
            <a:r>
              <a:rPr lang="en-US" sz="7200">
                <a:solidFill>
                  <a:srgbClr val="0E5C6A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Rate Limiting &amp; Billing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829735" y="6457055"/>
            <a:ext cx="4108202" cy="1353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FREE → 1 job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Hobby→ 3 jobs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Pro </a:t>
            </a:r>
            <a:r>
              <a:rPr lang="en-US" sz="2600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→ 10 jobs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719103" y="6424035"/>
            <a:ext cx="5053635" cy="272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Credit-based model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Auto-refill thresholds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Usage metrics: images, storage, bandwidth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Transaction</a:t>
            </a:r>
            <a:r>
              <a:rPr lang="en-US" sz="2600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history ensures predictable cost</a:t>
            </a:r>
          </a:p>
        </p:txBody>
      </p:sp>
      <p:sp>
        <p:nvSpPr>
          <p:cNvPr name="AutoShape 7" id="7"/>
          <p:cNvSpPr/>
          <p:nvPr/>
        </p:nvSpPr>
        <p:spPr>
          <a:xfrm>
            <a:off x="9198944" y="6471660"/>
            <a:ext cx="0" cy="2485103"/>
          </a:xfrm>
          <a:prstGeom prst="line">
            <a:avLst/>
          </a:prstGeom>
          <a:ln cap="flat" w="38100">
            <a:solidFill>
              <a:srgbClr val="0A3C4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0" y="12173"/>
            <a:ext cx="18086294" cy="1640807"/>
            <a:chOff x="0" y="0"/>
            <a:chExt cx="24115059" cy="2187743"/>
          </a:xfrm>
        </p:grpSpPr>
        <p:sp>
          <p:nvSpPr>
            <p:cNvPr name="AutoShape 9" id="9"/>
            <p:cNvSpPr/>
            <p:nvPr/>
          </p:nvSpPr>
          <p:spPr>
            <a:xfrm>
              <a:off x="501706" y="2181393"/>
              <a:ext cx="23380588" cy="0"/>
            </a:xfrm>
            <a:prstGeom prst="line">
              <a:avLst/>
            </a:prstGeom>
            <a:ln cap="flat" w="127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957983" y="180709"/>
              <a:ext cx="3157076" cy="1462942"/>
            </a:xfrm>
            <a:custGeom>
              <a:avLst/>
              <a:gdLst/>
              <a:ahLst/>
              <a:cxnLst/>
              <a:rect r="r" b="b" t="t" l="l"/>
              <a:pathLst>
                <a:path h="1462942" w="3157076">
                  <a:moveTo>
                    <a:pt x="0" y="0"/>
                  </a:moveTo>
                  <a:lnTo>
                    <a:pt x="3157076" y="0"/>
                  </a:lnTo>
                  <a:lnTo>
                    <a:pt x="3157076" y="1462941"/>
                  </a:lnTo>
                  <a:lnTo>
                    <a:pt x="0" y="1462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13" r="0" b="-171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10897800" y="1508620"/>
              <a:ext cx="2588400" cy="398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100"/>
                </a:lnSpc>
              </a:pPr>
              <a:r>
                <a:rPr lang="en-US" b="true" sz="2100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PIXCRAWLER</a:t>
              </a:r>
            </a:p>
          </p:txBody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28413" cy="1857011"/>
            </a:xfrm>
            <a:custGeom>
              <a:avLst/>
              <a:gdLst/>
              <a:ahLst/>
              <a:cxnLst/>
              <a:rect r="r" b="b" t="t" l="l"/>
              <a:pathLst>
                <a:path h="1857011" w="2228413">
                  <a:moveTo>
                    <a:pt x="0" y="0"/>
                  </a:moveTo>
                  <a:lnTo>
                    <a:pt x="2228413" y="0"/>
                  </a:lnTo>
                  <a:lnTo>
                    <a:pt x="2228413" y="1857011"/>
                  </a:lnTo>
                  <a:lnTo>
                    <a:pt x="0" y="18570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666750" y="9625012"/>
            <a:ext cx="5753100" cy="0"/>
          </a:xfrm>
          <a:prstGeom prst="line">
            <a:avLst/>
          </a:prstGeom>
          <a:ln cap="flat" w="9525">
            <a:solidFill>
              <a:srgbClr val="0A3C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8511456" y="3497020"/>
            <a:ext cx="9574838" cy="5491121"/>
          </a:xfrm>
          <a:custGeom>
            <a:avLst/>
            <a:gdLst/>
            <a:ahLst/>
            <a:cxnLst/>
            <a:rect r="r" b="b" t="t" l="l"/>
            <a:pathLst>
              <a:path h="5491121" w="9574838">
                <a:moveTo>
                  <a:pt x="0" y="0"/>
                </a:moveTo>
                <a:lnTo>
                  <a:pt x="9574838" y="0"/>
                </a:lnTo>
                <a:lnTo>
                  <a:pt x="9574838" y="5491120"/>
                </a:lnTo>
                <a:lnTo>
                  <a:pt x="0" y="54911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7954" r="0" b="-36415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15471" y="2176855"/>
            <a:ext cx="9908028" cy="103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</a:pPr>
            <a:r>
              <a:rPr lang="en-US" sz="7200">
                <a:solidFill>
                  <a:srgbClr val="0E5C6A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Operations &amp; Sustainability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6750" y="3869575"/>
            <a:ext cx="7485878" cy="318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CPU-efficient distributed architect</a:t>
            </a:r>
            <a:r>
              <a:rPr lang="en-US" sz="2600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ure (no GPU needed)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Checkpoint resume reduces wasted compute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Chunk-based processing minimizes retries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Automatic temp cleanup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Hot → Cold archival, 7z compression</a:t>
            </a:r>
            <a:r>
              <a:rPr lang="en-US" sz="2600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saves cloud cost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0" y="0"/>
            <a:ext cx="18086294" cy="1640807"/>
            <a:chOff x="0" y="0"/>
            <a:chExt cx="24115059" cy="2187743"/>
          </a:xfrm>
        </p:grpSpPr>
        <p:sp>
          <p:nvSpPr>
            <p:cNvPr name="AutoShape 7" id="7"/>
            <p:cNvSpPr/>
            <p:nvPr/>
          </p:nvSpPr>
          <p:spPr>
            <a:xfrm>
              <a:off x="501706" y="2181393"/>
              <a:ext cx="23380588" cy="0"/>
            </a:xfrm>
            <a:prstGeom prst="line">
              <a:avLst/>
            </a:prstGeom>
            <a:ln cap="flat" w="127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0957983" y="180709"/>
              <a:ext cx="3157076" cy="1462942"/>
            </a:xfrm>
            <a:custGeom>
              <a:avLst/>
              <a:gdLst/>
              <a:ahLst/>
              <a:cxnLst/>
              <a:rect r="r" b="b" t="t" l="l"/>
              <a:pathLst>
                <a:path h="1462942" w="3157076">
                  <a:moveTo>
                    <a:pt x="0" y="0"/>
                  </a:moveTo>
                  <a:lnTo>
                    <a:pt x="3157076" y="0"/>
                  </a:lnTo>
                  <a:lnTo>
                    <a:pt x="3157076" y="1462941"/>
                  </a:lnTo>
                  <a:lnTo>
                    <a:pt x="0" y="1462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13" r="0" b="-17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10897800" y="1508620"/>
              <a:ext cx="2588400" cy="398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100"/>
                </a:lnSpc>
              </a:pPr>
              <a:r>
                <a:rPr lang="en-US" b="true" sz="2100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PIXCRAWLER</a:t>
              </a:r>
            </a:p>
          </p:txBody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28413" cy="1857011"/>
            </a:xfrm>
            <a:custGeom>
              <a:avLst/>
              <a:gdLst/>
              <a:ahLst/>
              <a:cxnLst/>
              <a:rect r="r" b="b" t="t" l="l"/>
              <a:pathLst>
                <a:path h="1857011" w="2228413">
                  <a:moveTo>
                    <a:pt x="0" y="0"/>
                  </a:moveTo>
                  <a:lnTo>
                    <a:pt x="2228413" y="0"/>
                  </a:lnTo>
                  <a:lnTo>
                    <a:pt x="2228413" y="1857011"/>
                  </a:lnTo>
                  <a:lnTo>
                    <a:pt x="0" y="18570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666750" y="9625012"/>
            <a:ext cx="5753100" cy="0"/>
          </a:xfrm>
          <a:prstGeom prst="line">
            <a:avLst/>
          </a:prstGeom>
          <a:ln cap="flat" w="9525">
            <a:solidFill>
              <a:srgbClr val="0A3C4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0" y="41853"/>
            <a:ext cx="18086294" cy="1640807"/>
            <a:chOff x="0" y="0"/>
            <a:chExt cx="24115059" cy="2187743"/>
          </a:xfrm>
        </p:grpSpPr>
        <p:sp>
          <p:nvSpPr>
            <p:cNvPr name="AutoShape 4" id="4"/>
            <p:cNvSpPr/>
            <p:nvPr/>
          </p:nvSpPr>
          <p:spPr>
            <a:xfrm>
              <a:off x="501706" y="2181393"/>
              <a:ext cx="23380588" cy="0"/>
            </a:xfrm>
            <a:prstGeom prst="line">
              <a:avLst/>
            </a:prstGeom>
            <a:ln cap="flat" w="127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0957983" y="180709"/>
              <a:ext cx="3157076" cy="1462942"/>
            </a:xfrm>
            <a:custGeom>
              <a:avLst/>
              <a:gdLst/>
              <a:ahLst/>
              <a:cxnLst/>
              <a:rect r="r" b="b" t="t" l="l"/>
              <a:pathLst>
                <a:path h="1462942" w="3157076">
                  <a:moveTo>
                    <a:pt x="0" y="0"/>
                  </a:moveTo>
                  <a:lnTo>
                    <a:pt x="3157076" y="0"/>
                  </a:lnTo>
                  <a:lnTo>
                    <a:pt x="3157076" y="1462941"/>
                  </a:lnTo>
                  <a:lnTo>
                    <a:pt x="0" y="1462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713" r="0" b="-171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10897800" y="1508620"/>
              <a:ext cx="2588400" cy="398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100"/>
                </a:lnSpc>
              </a:pPr>
              <a:r>
                <a:rPr lang="en-US" b="true" sz="2100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PIXCRAWLER</a:t>
              </a:r>
            </a:p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28413" cy="1857011"/>
            </a:xfrm>
            <a:custGeom>
              <a:avLst/>
              <a:gdLst/>
              <a:ahLst/>
              <a:cxnLst/>
              <a:rect r="r" b="b" t="t" l="l"/>
              <a:pathLst>
                <a:path h="1857011" w="2228413">
                  <a:moveTo>
                    <a:pt x="0" y="0"/>
                  </a:moveTo>
                  <a:lnTo>
                    <a:pt x="2228413" y="0"/>
                  </a:lnTo>
                  <a:lnTo>
                    <a:pt x="2228413" y="1857011"/>
                  </a:lnTo>
                  <a:lnTo>
                    <a:pt x="0" y="18570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515471" y="2176855"/>
            <a:ext cx="9908028" cy="103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</a:pPr>
            <a:r>
              <a:rPr lang="en-US" sz="7200">
                <a:solidFill>
                  <a:srgbClr val="0E5C6A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Streamlined Scalability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105766" y="3649420"/>
            <a:ext cx="14076468" cy="4640934"/>
            <a:chOff x="0" y="0"/>
            <a:chExt cx="18768624" cy="618791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604721" cy="6187911"/>
            </a:xfrm>
            <a:custGeom>
              <a:avLst/>
              <a:gdLst/>
              <a:ahLst/>
              <a:cxnLst/>
              <a:rect r="r" b="b" t="t" l="l"/>
              <a:pathLst>
                <a:path h="6187911" w="14604721">
                  <a:moveTo>
                    <a:pt x="0" y="0"/>
                  </a:moveTo>
                  <a:lnTo>
                    <a:pt x="14604721" y="0"/>
                  </a:lnTo>
                  <a:lnTo>
                    <a:pt x="14604721" y="6187911"/>
                  </a:lnTo>
                  <a:lnTo>
                    <a:pt x="0" y="61879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40515" r="-66959" b="-153543"/>
              </a:stretch>
            </a:blipFill>
          </p:spPr>
        </p:sp>
        <p:sp>
          <p:nvSpPr>
            <p:cNvPr name="AutoShape 11" id="11"/>
            <p:cNvSpPr/>
            <p:nvPr/>
          </p:nvSpPr>
          <p:spPr>
            <a:xfrm>
              <a:off x="7723729" y="3144756"/>
              <a:ext cx="1070312" cy="0"/>
            </a:xfrm>
            <a:prstGeom prst="line">
              <a:avLst/>
            </a:prstGeom>
            <a:ln cap="flat" w="50800">
              <a:solidFill>
                <a:srgbClr val="0A3C46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12" id="12"/>
            <p:cNvSpPr/>
            <p:nvPr/>
          </p:nvSpPr>
          <p:spPr>
            <a:xfrm>
              <a:off x="13534409" y="3093956"/>
              <a:ext cx="1070312" cy="0"/>
            </a:xfrm>
            <a:prstGeom prst="line">
              <a:avLst/>
            </a:prstGeom>
            <a:ln cap="flat" w="50800">
              <a:solidFill>
                <a:srgbClr val="0A3C46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4333512" y="0"/>
              <a:ext cx="4435111" cy="6187911"/>
            </a:xfrm>
            <a:custGeom>
              <a:avLst/>
              <a:gdLst/>
              <a:ahLst/>
              <a:cxnLst/>
              <a:rect r="r" b="b" t="t" l="l"/>
              <a:pathLst>
                <a:path h="6187911" w="4435111">
                  <a:moveTo>
                    <a:pt x="0" y="0"/>
                  </a:moveTo>
                  <a:lnTo>
                    <a:pt x="4435112" y="0"/>
                  </a:lnTo>
                  <a:lnTo>
                    <a:pt x="4435112" y="6187911"/>
                  </a:lnTo>
                  <a:lnTo>
                    <a:pt x="0" y="61879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49794" t="-140515" r="0" b="-153543"/>
              </a:stretch>
            </a:blipFill>
          </p:spPr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666750" y="9625012"/>
            <a:ext cx="5753100" cy="0"/>
          </a:xfrm>
          <a:prstGeom prst="line">
            <a:avLst/>
          </a:prstGeom>
          <a:ln cap="flat" w="9525">
            <a:solidFill>
              <a:srgbClr val="0A3C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7030449" y="2613687"/>
            <a:ext cx="4227102" cy="103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</a:pPr>
            <a:r>
              <a:rPr lang="en-US" sz="7200">
                <a:solidFill>
                  <a:srgbClr val="0E5C6A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Conclusion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252795" y="4004611"/>
            <a:ext cx="14661561" cy="3175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PixCrawler combine</a:t>
            </a:r>
            <a:r>
              <a:rPr lang="en-US" sz="3599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 intelligence, automation, scalability, and strong engineering to deliver high-quality image datasets at scale.</a:t>
            </a:r>
          </a:p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Transforms simple keywords into structured, validated, and instantly downloadable datasets.</a:t>
            </a:r>
          </a:p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 complete, enterprise-ready plat</a:t>
            </a:r>
            <a:r>
              <a:rPr lang="en-US" sz="3599">
                <a:solidFill>
                  <a:srgbClr val="0A3C46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form for modern ML and AI workflows.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0"/>
            <a:ext cx="18086294" cy="1640807"/>
            <a:chOff x="0" y="0"/>
            <a:chExt cx="24115059" cy="2187743"/>
          </a:xfrm>
        </p:grpSpPr>
        <p:sp>
          <p:nvSpPr>
            <p:cNvPr name="AutoShape 6" id="6"/>
            <p:cNvSpPr/>
            <p:nvPr/>
          </p:nvSpPr>
          <p:spPr>
            <a:xfrm>
              <a:off x="501706" y="2181393"/>
              <a:ext cx="23380588" cy="0"/>
            </a:xfrm>
            <a:prstGeom prst="line">
              <a:avLst/>
            </a:prstGeom>
            <a:ln cap="flat" w="127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0957983" y="180709"/>
              <a:ext cx="3157076" cy="1462942"/>
            </a:xfrm>
            <a:custGeom>
              <a:avLst/>
              <a:gdLst/>
              <a:ahLst/>
              <a:cxnLst/>
              <a:rect r="r" b="b" t="t" l="l"/>
              <a:pathLst>
                <a:path h="1462942" w="3157076">
                  <a:moveTo>
                    <a:pt x="0" y="0"/>
                  </a:moveTo>
                  <a:lnTo>
                    <a:pt x="3157076" y="0"/>
                  </a:lnTo>
                  <a:lnTo>
                    <a:pt x="3157076" y="1462941"/>
                  </a:lnTo>
                  <a:lnTo>
                    <a:pt x="0" y="1462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713" r="0" b="-171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10897800" y="1508620"/>
              <a:ext cx="2588400" cy="398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100"/>
                </a:lnSpc>
              </a:pPr>
              <a:r>
                <a:rPr lang="en-US" b="true" sz="2100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PIXCRAWLER</a:t>
              </a:r>
            </a:p>
          </p:txBody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28413" cy="1857011"/>
            </a:xfrm>
            <a:custGeom>
              <a:avLst/>
              <a:gdLst/>
              <a:ahLst/>
              <a:cxnLst/>
              <a:rect r="r" b="b" t="t" l="l"/>
              <a:pathLst>
                <a:path h="1857011" w="2228413">
                  <a:moveTo>
                    <a:pt x="0" y="0"/>
                  </a:moveTo>
                  <a:lnTo>
                    <a:pt x="2228413" y="0"/>
                  </a:lnTo>
                  <a:lnTo>
                    <a:pt x="2228413" y="1857011"/>
                  </a:lnTo>
                  <a:lnTo>
                    <a:pt x="0" y="18570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666750" y="9625012"/>
            <a:ext cx="5753100" cy="0"/>
          </a:xfrm>
          <a:prstGeom prst="line">
            <a:avLst/>
          </a:prstGeom>
          <a:ln cap="flat" w="9525">
            <a:solidFill>
              <a:srgbClr val="0A3C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5229022" y="4470404"/>
            <a:ext cx="7469670" cy="1431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999"/>
              </a:lnSpc>
            </a:pPr>
            <a:r>
              <a:rPr lang="en-US" sz="9999">
                <a:solidFill>
                  <a:srgbClr val="0E5C6A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THANK YOU!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0"/>
            <a:ext cx="18086294" cy="1640807"/>
            <a:chOff x="0" y="0"/>
            <a:chExt cx="24115059" cy="2187743"/>
          </a:xfrm>
        </p:grpSpPr>
        <p:sp>
          <p:nvSpPr>
            <p:cNvPr name="AutoShape 5" id="5"/>
            <p:cNvSpPr/>
            <p:nvPr/>
          </p:nvSpPr>
          <p:spPr>
            <a:xfrm>
              <a:off x="501706" y="2181393"/>
              <a:ext cx="23380588" cy="0"/>
            </a:xfrm>
            <a:prstGeom prst="line">
              <a:avLst/>
            </a:prstGeom>
            <a:ln cap="flat" w="127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957983" y="180709"/>
              <a:ext cx="3157076" cy="1462942"/>
            </a:xfrm>
            <a:custGeom>
              <a:avLst/>
              <a:gdLst/>
              <a:ahLst/>
              <a:cxnLst/>
              <a:rect r="r" b="b" t="t" l="l"/>
              <a:pathLst>
                <a:path h="1462942" w="3157076">
                  <a:moveTo>
                    <a:pt x="0" y="0"/>
                  </a:moveTo>
                  <a:lnTo>
                    <a:pt x="3157076" y="0"/>
                  </a:lnTo>
                  <a:lnTo>
                    <a:pt x="3157076" y="1462941"/>
                  </a:lnTo>
                  <a:lnTo>
                    <a:pt x="0" y="1462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713" r="0" b="-17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10897800" y="1508620"/>
              <a:ext cx="2588400" cy="398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100"/>
                </a:lnSpc>
              </a:pPr>
              <a:r>
                <a:rPr lang="en-US" b="true" sz="2100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PIXCRAWLER</a:t>
              </a:r>
            </a:p>
          </p:txBody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28413" cy="1857011"/>
            </a:xfrm>
            <a:custGeom>
              <a:avLst/>
              <a:gdLst/>
              <a:ahLst/>
              <a:cxnLst/>
              <a:rect r="r" b="b" t="t" l="l"/>
              <a:pathLst>
                <a:path h="1857011" w="2228413">
                  <a:moveTo>
                    <a:pt x="0" y="0"/>
                  </a:moveTo>
                  <a:lnTo>
                    <a:pt x="2228413" y="0"/>
                  </a:lnTo>
                  <a:lnTo>
                    <a:pt x="2228413" y="1857011"/>
                  </a:lnTo>
                  <a:lnTo>
                    <a:pt x="0" y="18570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DAG6L8vXRhQ</dc:identifier>
  <dcterms:modified xsi:type="dcterms:W3CDTF">2011-08-01T06:04:30Z</dcterms:modified>
  <cp:revision>1</cp:revision>
  <dc:title>Presented by: [Your Name], [Your Role] at PixCrawler</dc:title>
</cp:coreProperties>
</file>